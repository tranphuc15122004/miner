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6858000" cx="12192000"/>
  <p:notesSz cx="6858000" cy="9144000"/>
  <p:embeddedFontLst>
    <p:embeddedFont>
      <p:font typeface="Lat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jLKULkkrmaAMiWdQXwIwXKiSy8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FA3A95-C651-43AE-86BB-DB94F203868F}">
  <a:tblStyle styleId="{1FFA3A95-C651-43AE-86BB-DB94F203868F}"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FA2F0381-8158-45EA-B5CE-76772933F5FB}" styleName="Table_1">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Lato-bold.fntdata"/><Relationship Id="rId47" Type="http://schemas.openxmlformats.org/officeDocument/2006/relationships/font" Target="fonts/Lato-regular.fntdata"/><Relationship Id="rId49" Type="http://schemas.openxmlformats.org/officeDocument/2006/relationships/font" Target="fonts/Lato-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font" Target="fonts/La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vi-V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 name="Google Shape;4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 name="Google Shape;4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 name="Google Shape;6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 name="Google Shape;6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 name="Google Shape;7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 name="Google Shape;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b7941afaaa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g3b7941afaaa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3efca13b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g3a3efca13b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7941afaaa_5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g3b7941afaaa_5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7941afaaa_5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g3b7941afaaa_5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7941afaaa_5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g3b7941afaaa_5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d1322d63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g3ad1322d63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77ded3c23_5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3b77ded3c23_5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b7941afaaa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b7941afaaa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7941afaaa_4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g3b7941afaaa_4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b7941afaaa_6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g3b7941afaaa_6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3efca13b7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g3a3efca13b7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b7941afaaa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3b7941afaaa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b7941afaa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g3b7941afaa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b7941afaaa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g3b7941afaaa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7941afaaa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g3b7941afaaa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a3efca13b7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g3a3efca13b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a3efca13b7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3a3efca13b7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b7941afaaa_7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g3b7941afaaa_7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b7941afaaa_7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g3b7941afaaa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b7941afaaa_7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g3b7941afaaa_7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b7941afaaa_7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g3b7941afaaa_7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bg>
      <p:bgPr>
        <a:blipFill>
          <a:blip r:embed="rId2">
            <a:alphaModFix/>
          </a:blip>
          <a:stretch>
            <a:fillRect/>
          </a:stretch>
        </a:blipFill>
      </p:bgPr>
    </p:bg>
    <p:spTree>
      <p:nvGrpSpPr>
        <p:cNvPr id="10" name="Shape 10"/>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3"/>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00376F"/>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3"/>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00376F"/>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7"/>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00376F"/>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 name="Google Shape;17;p27"/>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00376F"/>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 name="Google Shape;18;p2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vi-VN"/>
              <a:t>‹#›</a:t>
            </a:fld>
            <a:endParaRPr/>
          </a:p>
        </p:txBody>
      </p:sp>
      <p:sp>
        <p:nvSpPr>
          <p:cNvPr id="19" name="Google Shape;19;p27"/>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 name="Google Shape;20;p27"/>
          <p:cNvSpPr txBox="1"/>
          <p:nvPr>
            <p:ph idx="1" type="body"/>
          </p:nvPr>
        </p:nvSpPr>
        <p:spPr>
          <a:xfrm>
            <a:off x="338736" y="1058844"/>
            <a:ext cx="11514528" cy="490912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28"/>
          <p:cNvSpPr txBox="1"/>
          <p:nvPr>
            <p:ph type="title"/>
          </p:nvPr>
        </p:nvSpPr>
        <p:spPr>
          <a:xfrm>
            <a:off x="3788898" y="2461846"/>
            <a:ext cx="4614203" cy="1934307"/>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4800"/>
              <a:buFont typeface="Lato"/>
              <a:buNone/>
              <a:defRPr b="1" i="0" sz="4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29"/>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C00000"/>
              </a:buClr>
              <a:buSzPts val="1400"/>
              <a:buFont typeface="Lato"/>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25" name="Google Shape;25;p29"/>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C00000"/>
              </a:buClr>
              <a:buSzPts val="1400"/>
              <a:buFont typeface="Lato"/>
              <a:buNone/>
              <a:defRPr b="1" i="0" sz="1200" u="none" cap="none" strike="noStrike">
                <a:solidFill>
                  <a:srgbClr val="C00000"/>
                </a:solidFill>
                <a:latin typeface="Lato"/>
                <a:ea typeface="Lato"/>
                <a:cs typeface="Lato"/>
                <a:sym typeface="Lato"/>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26" name="Google Shape;26;p2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C00000"/>
              </a:buClr>
              <a:buSzPts val="1200"/>
              <a:buFont typeface="Lato"/>
              <a:buNone/>
              <a:defRPr b="1" i="0" sz="1200" u="none" cap="none" strike="noStrike">
                <a:solidFill>
                  <a:srgbClr val="C00000"/>
                </a:solidFill>
                <a:latin typeface="Lato"/>
                <a:ea typeface="Lato"/>
                <a:cs typeface="Lato"/>
                <a:sym typeface="Lato"/>
              </a:defRPr>
            </a:lvl1pPr>
            <a:lvl2pPr indent="0" lvl="1" marL="0" marR="0" rtl="0" algn="r">
              <a:lnSpc>
                <a:spcPct val="100000"/>
              </a:lnSpc>
              <a:spcBef>
                <a:spcPts val="0"/>
              </a:spcBef>
              <a:spcAft>
                <a:spcPts val="0"/>
              </a:spcAft>
              <a:buClr>
                <a:srgbClr val="C00000"/>
              </a:buClr>
              <a:buSzPts val="1200"/>
              <a:buFont typeface="Lato"/>
              <a:buNone/>
              <a:defRPr b="1" i="0" sz="1200" u="none" cap="none" strike="noStrike">
                <a:solidFill>
                  <a:srgbClr val="C00000"/>
                </a:solidFill>
                <a:latin typeface="Lato"/>
                <a:ea typeface="Lato"/>
                <a:cs typeface="Lato"/>
                <a:sym typeface="Lato"/>
              </a:defRPr>
            </a:lvl2pPr>
            <a:lvl3pPr indent="0" lvl="2" marL="0" marR="0" rtl="0" algn="r">
              <a:lnSpc>
                <a:spcPct val="100000"/>
              </a:lnSpc>
              <a:spcBef>
                <a:spcPts val="0"/>
              </a:spcBef>
              <a:spcAft>
                <a:spcPts val="0"/>
              </a:spcAft>
              <a:buClr>
                <a:srgbClr val="C00000"/>
              </a:buClr>
              <a:buSzPts val="1200"/>
              <a:buFont typeface="Lato"/>
              <a:buNone/>
              <a:defRPr b="1" i="0" sz="1200" u="none" cap="none" strike="noStrike">
                <a:solidFill>
                  <a:srgbClr val="C00000"/>
                </a:solidFill>
                <a:latin typeface="Lato"/>
                <a:ea typeface="Lato"/>
                <a:cs typeface="Lato"/>
                <a:sym typeface="Lato"/>
              </a:defRPr>
            </a:lvl3pPr>
            <a:lvl4pPr indent="0" lvl="3" marL="0" marR="0" rtl="0" algn="r">
              <a:lnSpc>
                <a:spcPct val="100000"/>
              </a:lnSpc>
              <a:spcBef>
                <a:spcPts val="0"/>
              </a:spcBef>
              <a:spcAft>
                <a:spcPts val="0"/>
              </a:spcAft>
              <a:buClr>
                <a:srgbClr val="C00000"/>
              </a:buClr>
              <a:buSzPts val="1200"/>
              <a:buFont typeface="Lato"/>
              <a:buNone/>
              <a:defRPr b="1" i="0" sz="1200" u="none" cap="none" strike="noStrike">
                <a:solidFill>
                  <a:srgbClr val="C00000"/>
                </a:solidFill>
                <a:latin typeface="Lato"/>
                <a:ea typeface="Lato"/>
                <a:cs typeface="Lato"/>
                <a:sym typeface="Lato"/>
              </a:defRPr>
            </a:lvl4pPr>
            <a:lvl5pPr indent="0" lvl="4" marL="0" marR="0" rtl="0" algn="r">
              <a:lnSpc>
                <a:spcPct val="100000"/>
              </a:lnSpc>
              <a:spcBef>
                <a:spcPts val="0"/>
              </a:spcBef>
              <a:spcAft>
                <a:spcPts val="0"/>
              </a:spcAft>
              <a:buClr>
                <a:srgbClr val="C00000"/>
              </a:buClr>
              <a:buSzPts val="1200"/>
              <a:buFont typeface="Lato"/>
              <a:buNone/>
              <a:defRPr b="1" i="0" sz="1200" u="none" cap="none" strike="noStrike">
                <a:solidFill>
                  <a:srgbClr val="C00000"/>
                </a:solidFill>
                <a:latin typeface="Lato"/>
                <a:ea typeface="Lato"/>
                <a:cs typeface="Lato"/>
                <a:sym typeface="Lato"/>
              </a:defRPr>
            </a:lvl5pPr>
            <a:lvl6pPr indent="0" lvl="5" marL="0" marR="0" rtl="0" algn="r">
              <a:lnSpc>
                <a:spcPct val="100000"/>
              </a:lnSpc>
              <a:spcBef>
                <a:spcPts val="0"/>
              </a:spcBef>
              <a:spcAft>
                <a:spcPts val="0"/>
              </a:spcAft>
              <a:buClr>
                <a:srgbClr val="C00000"/>
              </a:buClr>
              <a:buSzPts val="1200"/>
              <a:buFont typeface="Lato"/>
              <a:buNone/>
              <a:defRPr b="1" i="0" sz="1200" u="none" cap="none" strike="noStrike">
                <a:solidFill>
                  <a:srgbClr val="C00000"/>
                </a:solidFill>
                <a:latin typeface="Lato"/>
                <a:ea typeface="Lato"/>
                <a:cs typeface="Lato"/>
                <a:sym typeface="Lato"/>
              </a:defRPr>
            </a:lvl6pPr>
            <a:lvl7pPr indent="0" lvl="6" marL="0" marR="0" rtl="0" algn="r">
              <a:lnSpc>
                <a:spcPct val="100000"/>
              </a:lnSpc>
              <a:spcBef>
                <a:spcPts val="0"/>
              </a:spcBef>
              <a:spcAft>
                <a:spcPts val="0"/>
              </a:spcAft>
              <a:buClr>
                <a:srgbClr val="C00000"/>
              </a:buClr>
              <a:buSzPts val="1200"/>
              <a:buFont typeface="Lato"/>
              <a:buNone/>
              <a:defRPr b="1" i="0" sz="1200" u="none" cap="none" strike="noStrike">
                <a:solidFill>
                  <a:srgbClr val="C00000"/>
                </a:solidFill>
                <a:latin typeface="Lato"/>
                <a:ea typeface="Lato"/>
                <a:cs typeface="Lato"/>
                <a:sym typeface="Lato"/>
              </a:defRPr>
            </a:lvl7pPr>
            <a:lvl8pPr indent="0" lvl="7" marL="0" marR="0" rtl="0" algn="r">
              <a:lnSpc>
                <a:spcPct val="100000"/>
              </a:lnSpc>
              <a:spcBef>
                <a:spcPts val="0"/>
              </a:spcBef>
              <a:spcAft>
                <a:spcPts val="0"/>
              </a:spcAft>
              <a:buClr>
                <a:srgbClr val="C00000"/>
              </a:buClr>
              <a:buSzPts val="1200"/>
              <a:buFont typeface="Lato"/>
              <a:buNone/>
              <a:defRPr b="1" i="0" sz="1200" u="none" cap="none" strike="noStrike">
                <a:solidFill>
                  <a:srgbClr val="C00000"/>
                </a:solidFill>
                <a:latin typeface="Lato"/>
                <a:ea typeface="Lato"/>
                <a:cs typeface="Lato"/>
                <a:sym typeface="Lato"/>
              </a:defRPr>
            </a:lvl8pPr>
            <a:lvl9pPr indent="0" lvl="8" marL="0" marR="0" rtl="0" algn="r">
              <a:lnSpc>
                <a:spcPct val="100000"/>
              </a:lnSpc>
              <a:spcBef>
                <a:spcPts val="0"/>
              </a:spcBef>
              <a:spcAft>
                <a:spcPts val="0"/>
              </a:spcAft>
              <a:buClr>
                <a:srgbClr val="C00000"/>
              </a:buClr>
              <a:buSzPts val="1200"/>
              <a:buFont typeface="Lato"/>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vi-VN"/>
              <a:t>‹#›</a:t>
            </a:fld>
            <a:endParaRPr/>
          </a:p>
        </p:txBody>
      </p:sp>
      <p:sp>
        <p:nvSpPr>
          <p:cNvPr id="27" name="Google Shape;27;p29"/>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 name="Google Shape;28;p29"/>
          <p:cNvSpPr txBox="1"/>
          <p:nvPr>
            <p:ph idx="1" type="body"/>
          </p:nvPr>
        </p:nvSpPr>
        <p:spPr>
          <a:xfrm>
            <a:off x="338736" y="1058844"/>
            <a:ext cx="11514528" cy="490912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25"/>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00376F"/>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25"/>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00376F"/>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3" name="Google Shape;33;p2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00376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vi-VN"/>
              <a:t>‹#›</a:t>
            </a:fld>
            <a:endParaRPr/>
          </a:p>
        </p:txBody>
      </p:sp>
      <p:sp>
        <p:nvSpPr>
          <p:cNvPr id="34" name="Google Shape;34;p2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25"/>
          <p:cNvSpPr txBox="1"/>
          <p:nvPr>
            <p:ph idx="1" type="body"/>
          </p:nvPr>
        </p:nvSpPr>
        <p:spPr>
          <a:xfrm>
            <a:off x="338736" y="1058844"/>
            <a:ext cx="11514528" cy="490912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26"/>
          <p:cNvSpPr txBox="1"/>
          <p:nvPr>
            <p:ph type="title"/>
          </p:nvPr>
        </p:nvSpPr>
        <p:spPr>
          <a:xfrm>
            <a:off x="3788898" y="2461846"/>
            <a:ext cx="4614203" cy="1934307"/>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4800"/>
              <a:buFont typeface="Lato"/>
              <a:buNone/>
              <a:defRPr b="1" i="0" sz="4800" u="none" cap="none" strike="noStrike">
                <a:solidFill>
                  <a:schemeClr val="lt1"/>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9" name="Shape 2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5" r:id="rId2"/>
    <p:sldLayoutId id="2147483656"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4.jpg"/><Relationship Id="rId5"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8.jpg"/><Relationship Id="rId5"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59.png"/><Relationship Id="rId5" Type="http://schemas.openxmlformats.org/officeDocument/2006/relationships/image" Target="../media/image56.png"/><Relationship Id="rId6" Type="http://schemas.openxmlformats.org/officeDocument/2006/relationships/image" Target="../media/image35.png"/><Relationship Id="rId7"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9.png"/><Relationship Id="rId4" Type="http://schemas.openxmlformats.org/officeDocument/2006/relationships/image" Target="../media/image53.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6.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3.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6.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1.png"/><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pic>
        <p:nvPicPr>
          <p:cNvPr id="46" name="Google Shape;46;p2"/>
          <p:cNvPicPr preferRelativeResize="0"/>
          <p:nvPr/>
        </p:nvPicPr>
        <p:blipFill rotWithShape="1">
          <a:blip r:embed="rId3">
            <a:alphaModFix/>
          </a:blip>
          <a:srcRect b="0" l="0" r="0" t="0"/>
          <a:stretch/>
        </p:blipFill>
        <p:spPr>
          <a:xfrm>
            <a:off x="386634" y="331380"/>
            <a:ext cx="3174367" cy="952975"/>
          </a:xfrm>
          <a:prstGeom prst="rect">
            <a:avLst/>
          </a:prstGeom>
          <a:noFill/>
          <a:ln>
            <a:noFill/>
          </a:ln>
        </p:spPr>
      </p:pic>
      <p:sp>
        <p:nvSpPr>
          <p:cNvPr id="47" name="Google Shape;47;p2"/>
          <p:cNvSpPr txBox="1"/>
          <p:nvPr/>
        </p:nvSpPr>
        <p:spPr>
          <a:xfrm>
            <a:off x="386634" y="1566270"/>
            <a:ext cx="9457454" cy="16411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4800"/>
              <a:buFont typeface="Lato"/>
              <a:buNone/>
            </a:pPr>
            <a:r>
              <a:rPr b="1" i="0" lang="vi-VN" sz="4800" u="none" cap="none" strike="noStrike">
                <a:solidFill>
                  <a:srgbClr val="C00000"/>
                </a:solidFill>
                <a:latin typeface="Arial"/>
                <a:ea typeface="Arial"/>
                <a:cs typeface="Arial"/>
                <a:sym typeface="Arial"/>
              </a:rPr>
              <a:t>GỢI Ý TIN TỨC TRÊN TẬP DỮ LIỆU MIND</a:t>
            </a:r>
            <a:endParaRPr b="0" i="0" sz="1400" u="none" cap="none" strike="noStrike">
              <a:solidFill>
                <a:srgbClr val="000000"/>
              </a:solidFill>
              <a:latin typeface="Arial"/>
              <a:ea typeface="Arial"/>
              <a:cs typeface="Arial"/>
              <a:sym typeface="Arial"/>
            </a:endParaRPr>
          </a:p>
        </p:txBody>
      </p:sp>
      <p:sp>
        <p:nvSpPr>
          <p:cNvPr id="48" name="Google Shape;48;p2"/>
          <p:cNvSpPr txBox="1"/>
          <p:nvPr/>
        </p:nvSpPr>
        <p:spPr>
          <a:xfrm>
            <a:off x="386634" y="3365399"/>
            <a:ext cx="7342482" cy="84879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2800"/>
              <a:buFont typeface="Lato"/>
              <a:buNone/>
            </a:pPr>
            <a:r>
              <a:rPr b="0" i="0" lang="vi-VN" sz="2800" u="none" cap="none" strike="noStrike">
                <a:solidFill>
                  <a:srgbClr val="C00000"/>
                </a:solidFill>
                <a:latin typeface="Lato"/>
                <a:ea typeface="Lato"/>
                <a:cs typeface="Lato"/>
                <a:sym typeface="Lato"/>
              </a:rPr>
              <a:t>Nhóm 3 – 162305 – IT4613</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C00000"/>
              </a:buClr>
              <a:buSzPts val="2800"/>
              <a:buFont typeface="Lato"/>
              <a:buNone/>
            </a:pPr>
            <a:r>
              <a:rPr b="0" i="0" lang="vi-VN" sz="2800" u="none" cap="none" strike="noStrike">
                <a:solidFill>
                  <a:srgbClr val="C00000"/>
                </a:solidFill>
                <a:latin typeface="Lato"/>
                <a:ea typeface="Lato"/>
                <a:cs typeface="Lato"/>
                <a:sym typeface="Lato"/>
              </a:rPr>
              <a:t>GVHD: TS.Ngô Văn Linh</a:t>
            </a:r>
            <a:endParaRPr b="0" i="0" sz="2800" u="none" cap="none" strike="noStrike">
              <a:solidFill>
                <a:srgbClr val="C00000"/>
              </a:solidFill>
              <a:latin typeface="Lato"/>
              <a:ea typeface="Lato"/>
              <a:cs typeface="Lato"/>
              <a:sym typeface="Lato"/>
            </a:endParaRPr>
          </a:p>
        </p:txBody>
      </p:sp>
      <p:sp>
        <p:nvSpPr>
          <p:cNvPr id="49" name="Google Shape;49;p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50" name="Google Shape;50;p2"/>
          <p:cNvSpPr txBox="1"/>
          <p:nvPr/>
        </p:nvSpPr>
        <p:spPr>
          <a:xfrm>
            <a:off x="501894" y="4372215"/>
            <a:ext cx="3493800" cy="113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vi-VN" sz="1800" u="none" cap="none" strike="noStrike">
                <a:solidFill>
                  <a:schemeClr val="dk1"/>
                </a:solidFill>
                <a:latin typeface="Calibri"/>
                <a:ea typeface="Calibri"/>
                <a:cs typeface="Calibri"/>
                <a:sym typeface="Calibri"/>
              </a:rPr>
              <a:t>Trần Đình Phúc 20224891</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vi-VN" sz="1800" u="none" cap="none" strike="noStrike">
                <a:solidFill>
                  <a:schemeClr val="dk1"/>
                </a:solidFill>
                <a:latin typeface="Calibri"/>
                <a:ea typeface="Calibri"/>
                <a:cs typeface="Calibri"/>
                <a:sym typeface="Calibri"/>
              </a:rPr>
              <a:t>Nguyễn Minh Ngọc 20225057</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vi-VN" sz="1800" u="none" cap="none" strike="noStrike">
                <a:solidFill>
                  <a:schemeClr val="dk1"/>
                </a:solidFill>
                <a:latin typeface="Calibri"/>
                <a:ea typeface="Calibri"/>
                <a:cs typeface="Calibri"/>
                <a:sym typeface="Calibri"/>
              </a:rPr>
              <a:t>Ong Xuân Sơn 20224897</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Nội dung báo cáo</a:t>
            </a:r>
            <a:endParaRPr/>
          </a:p>
        </p:txBody>
      </p:sp>
      <p:sp>
        <p:nvSpPr>
          <p:cNvPr id="56" name="Google Shape;56;p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57" name="Google Shape;57;p3"/>
          <p:cNvSpPr txBox="1"/>
          <p:nvPr/>
        </p:nvSpPr>
        <p:spPr>
          <a:xfrm>
            <a:off x="390059" y="1059120"/>
            <a:ext cx="10595325" cy="255454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3200"/>
              <a:buFont typeface="Lato"/>
              <a:buAutoNum type="arabicPeriod"/>
            </a:pPr>
            <a:r>
              <a:rPr b="0" i="0" lang="vi-VN" sz="3200" u="none" cap="none" strike="noStrike">
                <a:solidFill>
                  <a:schemeClr val="dk1"/>
                </a:solidFill>
                <a:latin typeface="Lato"/>
                <a:ea typeface="Lato"/>
                <a:cs typeface="Lato"/>
                <a:sym typeface="Lato"/>
              </a:rPr>
              <a:t>Giới thiệu cuộc thi và tập dữ liệu</a:t>
            </a:r>
            <a:endParaRPr b="0" i="0" sz="3200" u="none" cap="none" strike="noStrike">
              <a:solidFill>
                <a:schemeClr val="dk1"/>
              </a:solidFill>
              <a:latin typeface="Lato"/>
              <a:ea typeface="Lato"/>
              <a:cs typeface="Lato"/>
              <a:sym typeface="Lato"/>
            </a:endParaRPr>
          </a:p>
          <a:p>
            <a:pPr indent="-457200" lvl="0" marL="457200" marR="0" rtl="0" algn="l">
              <a:lnSpc>
                <a:spcPct val="100000"/>
              </a:lnSpc>
              <a:spcBef>
                <a:spcPts val="0"/>
              </a:spcBef>
              <a:spcAft>
                <a:spcPts val="0"/>
              </a:spcAft>
              <a:buClr>
                <a:schemeClr val="dk1"/>
              </a:buClr>
              <a:buSzPts val="3200"/>
              <a:buFont typeface="Lato"/>
              <a:buAutoNum type="arabicPeriod"/>
            </a:pPr>
            <a:r>
              <a:rPr b="0" i="0" lang="vi-VN" sz="3200" u="none" cap="none" strike="noStrike">
                <a:solidFill>
                  <a:schemeClr val="dk1"/>
                </a:solidFill>
                <a:latin typeface="Lato"/>
                <a:ea typeface="Lato"/>
                <a:cs typeface="Lato"/>
                <a:sym typeface="Lato"/>
              </a:rPr>
              <a:t>Kiến trúc mô hình</a:t>
            </a:r>
            <a:endParaRPr b="0" i="0" sz="3200" u="none" cap="none" strike="noStrike">
              <a:solidFill>
                <a:schemeClr val="dk1"/>
              </a:solidFill>
              <a:latin typeface="Lato"/>
              <a:ea typeface="Lato"/>
              <a:cs typeface="Lato"/>
              <a:sym typeface="Lato"/>
            </a:endParaRPr>
          </a:p>
          <a:p>
            <a:pPr indent="-457200" lvl="0" marL="457200" marR="0" rtl="0" algn="l">
              <a:lnSpc>
                <a:spcPct val="100000"/>
              </a:lnSpc>
              <a:spcBef>
                <a:spcPts val="0"/>
              </a:spcBef>
              <a:spcAft>
                <a:spcPts val="0"/>
              </a:spcAft>
              <a:buClr>
                <a:schemeClr val="dk1"/>
              </a:buClr>
              <a:buSzPts val="3200"/>
              <a:buFont typeface="Lato"/>
              <a:buAutoNum type="arabicPeriod"/>
            </a:pPr>
            <a:r>
              <a:rPr b="0" i="0" lang="vi-VN" sz="3200" u="none" cap="none" strike="noStrike">
                <a:solidFill>
                  <a:schemeClr val="dk1"/>
                </a:solidFill>
                <a:latin typeface="Lato"/>
                <a:ea typeface="Lato"/>
                <a:cs typeface="Lato"/>
                <a:sym typeface="Lato"/>
              </a:rPr>
              <a:t>Độ đo đánh giá</a:t>
            </a:r>
            <a:endParaRPr b="0" i="0" sz="3200" u="none" cap="none" strike="noStrike">
              <a:solidFill>
                <a:schemeClr val="dk1"/>
              </a:solidFill>
              <a:latin typeface="Lato"/>
              <a:ea typeface="Lato"/>
              <a:cs typeface="Lato"/>
              <a:sym typeface="Lato"/>
            </a:endParaRPr>
          </a:p>
          <a:p>
            <a:pPr indent="-457200" lvl="0" marL="457200" marR="0" rtl="0" algn="l">
              <a:lnSpc>
                <a:spcPct val="100000"/>
              </a:lnSpc>
              <a:spcBef>
                <a:spcPts val="0"/>
              </a:spcBef>
              <a:spcAft>
                <a:spcPts val="0"/>
              </a:spcAft>
              <a:buClr>
                <a:schemeClr val="dk1"/>
              </a:buClr>
              <a:buSzPts val="3200"/>
              <a:buFont typeface="Lato"/>
              <a:buAutoNum type="arabicPeriod"/>
            </a:pPr>
            <a:r>
              <a:rPr b="0" i="0" lang="vi-VN" sz="3200" u="none" cap="none" strike="noStrike">
                <a:solidFill>
                  <a:schemeClr val="dk1"/>
                </a:solidFill>
                <a:latin typeface="Lato"/>
                <a:ea typeface="Lato"/>
                <a:cs typeface="Lato"/>
                <a:sym typeface="Lato"/>
              </a:rPr>
              <a:t>Kết quả thử nghiệm</a:t>
            </a:r>
            <a:endParaRPr b="0" i="0" sz="3200" u="none" cap="none" strike="noStrike">
              <a:solidFill>
                <a:schemeClr val="dk1"/>
              </a:solidFill>
              <a:latin typeface="Lato"/>
              <a:ea typeface="Lato"/>
              <a:cs typeface="Lato"/>
              <a:sym typeface="Lato"/>
            </a:endParaRPr>
          </a:p>
          <a:p>
            <a:pPr indent="-457200" lvl="0" marL="457200" marR="0" rtl="0" algn="l">
              <a:lnSpc>
                <a:spcPct val="100000"/>
              </a:lnSpc>
              <a:spcBef>
                <a:spcPts val="0"/>
              </a:spcBef>
              <a:spcAft>
                <a:spcPts val="0"/>
              </a:spcAft>
              <a:buClr>
                <a:schemeClr val="dk1"/>
              </a:buClr>
              <a:buSzPts val="3200"/>
              <a:buFont typeface="Lato"/>
              <a:buAutoNum type="arabicPeriod"/>
            </a:pPr>
            <a:r>
              <a:rPr b="0" i="0" lang="vi-VN" sz="3200" u="none" cap="none" strike="noStrike">
                <a:solidFill>
                  <a:schemeClr val="dk1"/>
                </a:solidFill>
                <a:latin typeface="Lato"/>
                <a:ea typeface="Lato"/>
                <a:cs typeface="Lato"/>
                <a:sym typeface="Lato"/>
              </a:rPr>
              <a:t>Kết luận và hướng phát triển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4"/>
          <p:cNvSpPr txBox="1"/>
          <p:nvPr>
            <p:ph type="title"/>
          </p:nvPr>
        </p:nvSpPr>
        <p:spPr>
          <a:xfrm>
            <a:off x="2982326" y="2617072"/>
            <a:ext cx="6227348" cy="80324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4800"/>
              <a:buFont typeface="Lato"/>
              <a:buNone/>
            </a:pPr>
            <a:r>
              <a:rPr lang="vi-VN">
                <a:latin typeface="Lato"/>
                <a:ea typeface="Lato"/>
                <a:cs typeface="Lato"/>
                <a:sym typeface="Lato"/>
              </a:rPr>
              <a:t>1. </a:t>
            </a:r>
            <a:r>
              <a:rPr lang="vi-VN">
                <a:solidFill>
                  <a:srgbClr val="FFFFFF"/>
                </a:solidFill>
                <a:latin typeface="Lato"/>
                <a:ea typeface="Lato"/>
                <a:cs typeface="Lato"/>
                <a:sym typeface="Lato"/>
              </a:rPr>
              <a:t>Giới thiệu cuộc thi và tập dữ liệu</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1.1. Cuộc thi gợi ý tin tức trên tập dữ liệu MIND</a:t>
            </a:r>
            <a:endParaRPr/>
          </a:p>
        </p:txBody>
      </p:sp>
      <p:sp>
        <p:nvSpPr>
          <p:cNvPr id="68" name="Google Shape;68;p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69" name="Google Shape;69;p5"/>
          <p:cNvSpPr txBox="1"/>
          <p:nvPr/>
        </p:nvSpPr>
        <p:spPr>
          <a:xfrm>
            <a:off x="338736" y="1111021"/>
            <a:ext cx="11515442" cy="3416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vi-VN" sz="2000" u="none" cap="none" strike="noStrike">
                <a:solidFill>
                  <a:schemeClr val="dk1"/>
                </a:solidFill>
                <a:latin typeface="Lato"/>
                <a:ea typeface="Lato"/>
                <a:cs typeface="Lato"/>
                <a:sym typeface="Lato"/>
              </a:rPr>
              <a:t>Sự phổ biến của tin tức trực tuyến: </a:t>
            </a:r>
            <a:r>
              <a:rPr b="0" i="0" lang="vi-VN" sz="2000" u="none" cap="none" strike="noStrike">
                <a:solidFill>
                  <a:schemeClr val="dk1"/>
                </a:solidFill>
                <a:latin typeface="Lato"/>
                <a:ea typeface="Lato"/>
                <a:cs typeface="Lato"/>
                <a:sym typeface="Lato"/>
              </a:rPr>
              <a:t>Các dịch vụ như Microsoft News rất phổ biến trong việc đọc tin trực tuyến.</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vi-VN" sz="2000" u="none" cap="none" strike="noStrike">
                <a:solidFill>
                  <a:schemeClr val="dk1"/>
                </a:solidFill>
                <a:latin typeface="Lato"/>
                <a:ea typeface="Lato"/>
                <a:cs typeface="Lato"/>
                <a:sym typeface="Lato"/>
              </a:rPr>
              <a:t>Quá tải thông tin: </a:t>
            </a:r>
            <a:r>
              <a:rPr b="0" i="0" lang="vi-VN" sz="2000" u="none" cap="none" strike="noStrike">
                <a:solidFill>
                  <a:schemeClr val="dk1"/>
                </a:solidFill>
                <a:latin typeface="Lato"/>
                <a:ea typeface="Lato"/>
                <a:cs typeface="Lato"/>
                <a:sym typeface="Lato"/>
              </a:rPr>
              <a:t>Số lượng lớn bài báo được xuất bản mỗi ngày khiến người dùng bị quá tải, cần có hệ thống gợi ý tin tức cá nhân hóa.</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vi-VN" sz="2000" u="none" cap="none" strike="noStrike">
                <a:solidFill>
                  <a:schemeClr val="dk1"/>
                </a:solidFill>
                <a:latin typeface="Lato"/>
                <a:ea typeface="Lato"/>
                <a:cs typeface="Lato"/>
                <a:sym typeface="Lato"/>
              </a:rPr>
              <a:t>Thách thức trong gợi ý tin tức:</a:t>
            </a:r>
            <a:endParaRPr b="0" i="0" sz="2000" u="none" cap="none" strike="noStrike">
              <a:solidFill>
                <a:schemeClr val="dk1"/>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Cập nhật tin tức nhanh</a:t>
            </a:r>
            <a:endParaRPr b="0" i="0" sz="2000" u="none" cap="none" strike="noStrike">
              <a:solidFill>
                <a:schemeClr val="dk1"/>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Nội dung văn bản phong phú</a:t>
            </a:r>
            <a:endParaRPr b="0" i="0" sz="2000" u="none" cap="none" strike="noStrike">
              <a:solidFill>
                <a:schemeClr val="dk1"/>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Hành vi người dùng</a:t>
            </a:r>
            <a:endParaRPr b="0" i="0" sz="2000" u="none" cap="none" strike="noStrike">
              <a:solidFill>
                <a:schemeClr val="dk1"/>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Sở thích người dùng thay đổi</a:t>
            </a:r>
            <a:endParaRPr b="0" i="0" sz="2000" u="none" cap="none" strike="noStrike">
              <a:solidFill>
                <a:schemeClr val="dk1"/>
              </a:solidFill>
              <a:latin typeface="Lato"/>
              <a:ea typeface="Lato"/>
              <a:cs typeface="Lato"/>
              <a:sym typeface="Lato"/>
            </a:endParaRPr>
          </a:p>
          <a:p>
            <a:pPr indent="-171450" lvl="0" marL="28575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pic>
        <p:nvPicPr>
          <p:cNvPr descr="MIND" id="70" name="Google Shape;70;p5"/>
          <p:cNvPicPr preferRelativeResize="0"/>
          <p:nvPr/>
        </p:nvPicPr>
        <p:blipFill rotWithShape="1">
          <a:blip r:embed="rId3">
            <a:alphaModFix/>
          </a:blip>
          <a:srcRect b="0" l="0" r="0" t="0"/>
          <a:stretch/>
        </p:blipFill>
        <p:spPr>
          <a:xfrm>
            <a:off x="5310553" y="2687485"/>
            <a:ext cx="6588368" cy="2584999"/>
          </a:xfrm>
          <a:prstGeom prst="rect">
            <a:avLst/>
          </a:prstGeom>
          <a:noFill/>
          <a:ln>
            <a:noFill/>
          </a:ln>
        </p:spPr>
      </p:pic>
      <p:sp>
        <p:nvSpPr>
          <p:cNvPr id="71" name="Google Shape;71;p5"/>
          <p:cNvSpPr txBox="1"/>
          <p:nvPr/>
        </p:nvSpPr>
        <p:spPr>
          <a:xfrm>
            <a:off x="339595" y="4256726"/>
            <a:ext cx="4536830"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vi-VN" sz="2000" u="none" cap="none" strike="noStrike">
                <a:solidFill>
                  <a:schemeClr val="dk1"/>
                </a:solidFill>
                <a:latin typeface="Lato"/>
                <a:ea typeface="Lato"/>
                <a:cs typeface="Lato"/>
                <a:sym typeface="Lato"/>
              </a:rPr>
              <a:t>Bộ dữ liệu MIND &amp; Cuộc thi: Microsoft phát hành để thúc đẩy nghiên cứu và cải thiện hệ thống gợi ý tin tức.</a:t>
            </a:r>
            <a:endParaRPr b="0" i="0" sz="2000" u="none" cap="none" strike="noStrike">
              <a:solidFill>
                <a:schemeClr val="dk1"/>
              </a:solidFill>
              <a:latin typeface="Lato"/>
              <a:ea typeface="Lato"/>
              <a:cs typeface="Lato"/>
              <a:sym typeface="Lato"/>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77" name="Google Shape;77;p6"/>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1.2. Bộ dữ liệu MIND</a:t>
            </a:r>
            <a:endParaRPr/>
          </a:p>
        </p:txBody>
      </p:sp>
      <p:sp>
        <p:nvSpPr>
          <p:cNvPr id="78" name="Google Shape;78;p6"/>
          <p:cNvSpPr txBox="1"/>
          <p:nvPr/>
        </p:nvSpPr>
        <p:spPr>
          <a:xfrm>
            <a:off x="187569" y="1055547"/>
            <a:ext cx="11816564" cy="120032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Char char="•"/>
            </a:pPr>
            <a:r>
              <a:rPr b="0" i="0" lang="vi-VN" sz="1800" u="none" cap="none" strike="noStrike">
                <a:solidFill>
                  <a:srgbClr val="000000"/>
                </a:solidFill>
                <a:latin typeface="Lato"/>
                <a:ea typeface="Lato"/>
                <a:cs typeface="Lato"/>
                <a:sym typeface="Lato"/>
              </a:rPr>
              <a:t>MIND (Microsoft News Dataset) là tập dữ liệu quy mô lớn và có chất lượng cao cho bài toán gợi ý tin tức. Tác giả lấy mẫu ngẫu nhiên nhật ký tương tác của 1 triệu người dùng có ít nhất 5 click trong 6 tuần từ 12/10 tới 22/11/2019.</a:t>
            </a:r>
            <a:endParaRPr b="0" i="0" sz="1800" u="none" cap="none" strike="noStrike">
              <a:solidFill>
                <a:schemeClr val="dk1"/>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aphicFrame>
        <p:nvGraphicFramePr>
          <p:cNvPr id="79" name="Google Shape;79;p6"/>
          <p:cNvGraphicFramePr/>
          <p:nvPr/>
        </p:nvGraphicFramePr>
        <p:xfrm>
          <a:off x="2060523" y="2250831"/>
          <a:ext cx="3000000" cy="3000000"/>
        </p:xfrm>
        <a:graphic>
          <a:graphicData uri="http://schemas.openxmlformats.org/drawingml/2006/table">
            <a:tbl>
              <a:tblPr bandCol="1" bandRow="1" firstCol="1" firstRow="1" lastCol="1" lastRow="1">
                <a:noFill/>
                <a:tableStyleId>{1FFA3A95-C651-43AE-86BB-DB94F203868F}</a:tableStyleId>
              </a:tblPr>
              <a:tblGrid>
                <a:gridCol w="2941825"/>
                <a:gridCol w="5132775"/>
              </a:tblGrid>
              <a:tr h="576450">
                <a:tc>
                  <a:txBody>
                    <a:bodyPr/>
                    <a:lstStyle/>
                    <a:p>
                      <a:pPr indent="0" lvl="0" marL="5080" marR="1270" rtl="0" algn="ctr">
                        <a:lnSpc>
                          <a:spcPct val="76944"/>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Tên file</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175" marR="1270" rtl="0" algn="ctr">
                        <a:lnSpc>
                          <a:spcPct val="76944"/>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Mô tả</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76450">
                <a:tc>
                  <a:txBody>
                    <a:bodyPr/>
                    <a:lstStyle/>
                    <a:p>
                      <a:pPr indent="0" lvl="0" marL="67945" marR="0" rtl="0" algn="ctr">
                        <a:lnSpc>
                          <a:spcPct val="77222"/>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behaviors.tsv</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7945" marR="0" rtl="0" algn="ctr">
                        <a:lnSpc>
                          <a:spcPct val="77222"/>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Lịch sử click và nhật ký impression của các user</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76450">
                <a:tc>
                  <a:txBody>
                    <a:bodyPr/>
                    <a:lstStyle/>
                    <a:p>
                      <a:pPr indent="0" lvl="0" marL="67945" marR="0" rtl="0" algn="ctr">
                        <a:lnSpc>
                          <a:spcPct val="77222"/>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news.tsv</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7945" marR="0" rtl="0" algn="ctr">
                        <a:lnSpc>
                          <a:spcPct val="77222"/>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Thông tin của các bản tin</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76450">
                <a:tc>
                  <a:txBody>
                    <a:bodyPr/>
                    <a:lstStyle/>
                    <a:p>
                      <a:pPr indent="0" lvl="0" marL="67945" marR="0" rtl="0" algn="ctr">
                        <a:lnSpc>
                          <a:spcPct val="77222"/>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entity_embedding.vec</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7945" marR="0" rtl="0" algn="ctr">
                        <a:lnSpc>
                          <a:spcPct val="77222"/>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Embedding của các thực thể trong bản tin</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76450">
                <a:tc>
                  <a:txBody>
                    <a:bodyPr/>
                    <a:lstStyle/>
                    <a:p>
                      <a:pPr indent="0" lvl="0" marL="67945" marR="0" rtl="0" algn="ctr">
                        <a:lnSpc>
                          <a:spcPct val="76944"/>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relation_embedding.vec</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7945" marR="0" rtl="0" algn="ctr">
                        <a:lnSpc>
                          <a:spcPct val="76944"/>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Embedding của quan hệ giữa các thực thể</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80" name="Google Shape;80;p6"/>
          <p:cNvSpPr txBox="1"/>
          <p:nvPr/>
        </p:nvSpPr>
        <p:spPr>
          <a:xfrm>
            <a:off x="187568" y="5299300"/>
            <a:ext cx="11816564" cy="92333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Char char="•"/>
            </a:pPr>
            <a:r>
              <a:rPr b="0" i="0" lang="vi-VN" sz="1800" u="none" cap="none" strike="noStrike">
                <a:solidFill>
                  <a:srgbClr val="000000"/>
                </a:solidFill>
                <a:latin typeface="Lato"/>
                <a:ea typeface="Lato"/>
                <a:cs typeface="Lato"/>
                <a:sym typeface="Lato"/>
              </a:rPr>
              <a:t>Tập train và tập validation bao gồm 4 file khác nhau. Tập test cũng bao gồm 4 file như trên, tuy nhiên file behaviors.tsv của tập test sẽ không có nhãn.</a:t>
            </a:r>
            <a:endParaRPr b="0" i="0" sz="1800" u="none" cap="none" strike="noStrike">
              <a:solidFill>
                <a:schemeClr val="dk1"/>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86" name="Google Shape;86;p7"/>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1.2. Bộ dữ liệu MIND</a:t>
            </a:r>
            <a:endParaRPr/>
          </a:p>
        </p:txBody>
      </p:sp>
      <p:sp>
        <p:nvSpPr>
          <p:cNvPr id="87" name="Google Shape;87;p7"/>
          <p:cNvSpPr txBox="1"/>
          <p:nvPr/>
        </p:nvSpPr>
        <p:spPr>
          <a:xfrm>
            <a:off x="187569" y="1020378"/>
            <a:ext cx="11816564"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vi-VN" sz="2000" u="none" cap="none" strike="noStrike">
                <a:solidFill>
                  <a:srgbClr val="000000"/>
                </a:solidFill>
                <a:latin typeface="Lato"/>
                <a:ea typeface="Lato"/>
                <a:cs typeface="Lato"/>
                <a:sym typeface="Lato"/>
              </a:rPr>
              <a:t>Nhận xét về bộ dữ liệu:</a:t>
            </a:r>
            <a:endParaRPr b="1" i="0" sz="2000" u="none" cap="none" strike="noStrike">
              <a:solidFill>
                <a:schemeClr val="dk1"/>
              </a:solidFill>
              <a:latin typeface="Lato"/>
              <a:ea typeface="Lato"/>
              <a:cs typeface="Lato"/>
              <a:sym typeface="Lato"/>
            </a:endParaRPr>
          </a:p>
          <a:p>
            <a:pPr indent="-285750" lvl="0" marL="285750" marR="0" rtl="0" algn="l">
              <a:lnSpc>
                <a:spcPct val="100000"/>
              </a:lnSpc>
              <a:spcBef>
                <a:spcPts val="0"/>
              </a:spcBef>
              <a:spcAft>
                <a:spcPts val="0"/>
              </a:spcAft>
              <a:buClr>
                <a:srgbClr val="000000"/>
              </a:buClr>
              <a:buSzPts val="2000"/>
              <a:buFont typeface="Arial"/>
              <a:buChar char="•"/>
            </a:pPr>
            <a:r>
              <a:rPr b="0" i="0" lang="vi-VN" sz="2000" u="none" cap="none" strike="noStrike">
                <a:solidFill>
                  <a:srgbClr val="000000"/>
                </a:solidFill>
                <a:latin typeface="Lato"/>
                <a:ea typeface="Lato"/>
                <a:cs typeface="Lato"/>
                <a:sym typeface="Lato"/>
              </a:rPr>
              <a:t>Các bài báo khác nhau thì có tiêu đề thông tin khác nhau.</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vi-VN" sz="2000" u="none" cap="none" strike="noStrike">
                <a:solidFill>
                  <a:srgbClr val="000000"/>
                </a:solidFill>
                <a:latin typeface="Lato"/>
                <a:ea typeface="Lato"/>
                <a:cs typeface="Lato"/>
                <a:sym typeface="Lato"/>
              </a:rPr>
              <a:t>Từ ngữ trong từng tiêu đề có mức độ quan trọng khác nhau trong việc biểu diễn vector mã hóa.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vi-VN" sz="2000" u="none" cap="none" strike="noStrike">
                <a:solidFill>
                  <a:srgbClr val="000000"/>
                </a:solidFill>
                <a:latin typeface="Lato"/>
                <a:ea typeface="Lato"/>
                <a:cs typeface="Lato"/>
                <a:sym typeface="Lato"/>
              </a:rPr>
              <a:t>Mức độ phổ biến của các bài mà user đọc có thể giúp tìm ra sở thích.</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vi-VN" sz="2000" u="none" cap="none" strike="noStrike">
                <a:solidFill>
                  <a:srgbClr val="000000"/>
                </a:solidFill>
                <a:latin typeface="Lato"/>
                <a:ea typeface="Lato"/>
                <a:cs typeface="Lato"/>
                <a:sym typeface="Lato"/>
              </a:rPr>
              <a:t>Các bài báo khác nhau được duyệt bởi cùng một người dùng có tầm quan trọng khác nhau trong việc đại diện cho người dùng.</a:t>
            </a:r>
            <a:endParaRPr b="0" i="0" sz="2000" u="none" cap="none" strike="noStrike">
              <a:solidFill>
                <a:srgbClr val="000000"/>
              </a:solidFill>
              <a:latin typeface="Arial"/>
              <a:ea typeface="Arial"/>
              <a:cs typeface="Arial"/>
              <a:sym typeface="Arial"/>
            </a:endParaRPr>
          </a:p>
        </p:txBody>
      </p:sp>
      <p:graphicFrame>
        <p:nvGraphicFramePr>
          <p:cNvPr id="88" name="Google Shape;88;p7"/>
          <p:cNvGraphicFramePr/>
          <p:nvPr/>
        </p:nvGraphicFramePr>
        <p:xfrm>
          <a:off x="2060523" y="3153508"/>
          <a:ext cx="3000000" cy="3000000"/>
        </p:xfrm>
        <a:graphic>
          <a:graphicData uri="http://schemas.openxmlformats.org/drawingml/2006/table">
            <a:tbl>
              <a:tblPr bandCol="1" bandRow="1" firstCol="1" firstRow="1" lastCol="1" lastRow="1">
                <a:noFill/>
                <a:tableStyleId>{1FFA3A95-C651-43AE-86BB-DB94F203868F}</a:tableStyleId>
              </a:tblPr>
              <a:tblGrid>
                <a:gridCol w="2941825"/>
                <a:gridCol w="5132775"/>
              </a:tblGrid>
              <a:tr h="576450">
                <a:tc>
                  <a:txBody>
                    <a:bodyPr/>
                    <a:lstStyle/>
                    <a:p>
                      <a:pPr indent="0" lvl="0" marL="5080" marR="1270" rtl="0" algn="ctr">
                        <a:lnSpc>
                          <a:spcPct val="76944"/>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Tên file</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3175" marR="1270" rtl="0" algn="ctr">
                        <a:lnSpc>
                          <a:spcPct val="76944"/>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Mô tả</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76450">
                <a:tc>
                  <a:txBody>
                    <a:bodyPr/>
                    <a:lstStyle/>
                    <a:p>
                      <a:pPr indent="0" lvl="0" marL="67945" marR="0" rtl="0" algn="ctr">
                        <a:lnSpc>
                          <a:spcPct val="77222"/>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behaviors.tsv</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7945" marR="0" rtl="0" algn="ctr">
                        <a:lnSpc>
                          <a:spcPct val="77222"/>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Lịch sử click và nhật ký impression của các user</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76450">
                <a:tc>
                  <a:txBody>
                    <a:bodyPr/>
                    <a:lstStyle/>
                    <a:p>
                      <a:pPr indent="0" lvl="0" marL="67945" marR="0" rtl="0" algn="ctr">
                        <a:lnSpc>
                          <a:spcPct val="77222"/>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news.tsv</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7945" marR="0" rtl="0" algn="ctr">
                        <a:lnSpc>
                          <a:spcPct val="77222"/>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Thông tin của các bản tin</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76450">
                <a:tc>
                  <a:txBody>
                    <a:bodyPr/>
                    <a:lstStyle/>
                    <a:p>
                      <a:pPr indent="0" lvl="0" marL="67945" marR="0" rtl="0" algn="ctr">
                        <a:lnSpc>
                          <a:spcPct val="77222"/>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entity_embedding.vec</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7945" marR="0" rtl="0" algn="ctr">
                        <a:lnSpc>
                          <a:spcPct val="77222"/>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Embedding của các thực thể trong bản tin</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76450">
                <a:tc>
                  <a:txBody>
                    <a:bodyPr/>
                    <a:lstStyle/>
                    <a:p>
                      <a:pPr indent="0" lvl="0" marL="67945" marR="0" rtl="0" algn="ctr">
                        <a:lnSpc>
                          <a:spcPct val="76944"/>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relation_embedding.vec</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67945" marR="0" rtl="0" algn="ctr">
                        <a:lnSpc>
                          <a:spcPct val="76944"/>
                        </a:lnSpc>
                        <a:spcBef>
                          <a:spcPts val="0"/>
                        </a:spcBef>
                        <a:spcAft>
                          <a:spcPts val="0"/>
                        </a:spcAft>
                        <a:buClr>
                          <a:srgbClr val="000000"/>
                        </a:buClr>
                        <a:buSzPts val="1800"/>
                        <a:buFont typeface="Arial"/>
                        <a:buNone/>
                      </a:pPr>
                      <a:r>
                        <a:rPr b="0" lang="vi-VN" sz="1800" u="none" cap="none" strike="noStrike">
                          <a:solidFill>
                            <a:schemeClr val="dk1"/>
                          </a:solidFill>
                          <a:latin typeface="Lato"/>
                          <a:ea typeface="Lato"/>
                          <a:cs typeface="Lato"/>
                          <a:sym typeface="Lato"/>
                        </a:rPr>
                        <a:t>Embedding của quan hệ giữa các thực thể</a:t>
                      </a:r>
                      <a:endParaRPr b="0" sz="1800" u="none" cap="none" strike="noStrike">
                        <a:solidFill>
                          <a:schemeClr val="dk1"/>
                        </a:solidFill>
                        <a:latin typeface="Lato"/>
                        <a:ea typeface="Lato"/>
                        <a:cs typeface="Lato"/>
                        <a:sym typeface="Lato"/>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b7941afaaa_5_0"/>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vi-VN"/>
              <a:t>‹#›</a:t>
            </a:fld>
            <a:endParaRPr/>
          </a:p>
        </p:txBody>
      </p:sp>
      <p:sp>
        <p:nvSpPr>
          <p:cNvPr id="94" name="Google Shape;94;g3b7941afaaa_5_0"/>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1.2. Bộ dữ liệu MIND</a:t>
            </a:r>
            <a:endParaRPr/>
          </a:p>
        </p:txBody>
      </p:sp>
      <p:sp>
        <p:nvSpPr>
          <p:cNvPr id="95" name="Google Shape;95;g3b7941afaaa_5_0"/>
          <p:cNvSpPr txBox="1"/>
          <p:nvPr/>
        </p:nvSpPr>
        <p:spPr>
          <a:xfrm>
            <a:off x="187569" y="1020378"/>
            <a:ext cx="11816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lang="vi-VN" sz="2000">
                <a:latin typeface="Lato"/>
                <a:ea typeface="Lato"/>
                <a:cs typeface="Lato"/>
                <a:sym typeface="Lato"/>
              </a:rPr>
              <a:t>Thống kê dữ liệu</a:t>
            </a:r>
            <a:endParaRPr b="0" i="0" sz="2000" u="none" cap="none" strike="noStrike">
              <a:solidFill>
                <a:srgbClr val="000000"/>
              </a:solidFill>
              <a:latin typeface="Arial"/>
              <a:ea typeface="Arial"/>
              <a:cs typeface="Arial"/>
              <a:sym typeface="Arial"/>
            </a:endParaRPr>
          </a:p>
        </p:txBody>
      </p:sp>
      <p:pic>
        <p:nvPicPr>
          <p:cNvPr id="96" name="Google Shape;96;g3b7941afaaa_5_0"/>
          <p:cNvPicPr preferRelativeResize="0"/>
          <p:nvPr/>
        </p:nvPicPr>
        <p:blipFill>
          <a:blip r:embed="rId3">
            <a:alphaModFix/>
          </a:blip>
          <a:stretch>
            <a:fillRect/>
          </a:stretch>
        </p:blipFill>
        <p:spPr>
          <a:xfrm>
            <a:off x="280288" y="1723938"/>
            <a:ext cx="5651466" cy="3831385"/>
          </a:xfrm>
          <a:prstGeom prst="rect">
            <a:avLst/>
          </a:prstGeom>
          <a:noFill/>
          <a:ln>
            <a:noFill/>
          </a:ln>
        </p:spPr>
      </p:pic>
      <p:pic>
        <p:nvPicPr>
          <p:cNvPr id="97" name="Google Shape;97;g3b7941afaaa_5_0"/>
          <p:cNvPicPr preferRelativeResize="0"/>
          <p:nvPr/>
        </p:nvPicPr>
        <p:blipFill>
          <a:blip r:embed="rId4">
            <a:alphaModFix/>
          </a:blip>
          <a:stretch>
            <a:fillRect/>
          </a:stretch>
        </p:blipFill>
        <p:spPr>
          <a:xfrm>
            <a:off x="5684735" y="1723925"/>
            <a:ext cx="6227028" cy="3890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8"/>
          <p:cNvSpPr txBox="1"/>
          <p:nvPr>
            <p:ph type="title"/>
          </p:nvPr>
        </p:nvSpPr>
        <p:spPr>
          <a:xfrm>
            <a:off x="2982326" y="3027380"/>
            <a:ext cx="6227348" cy="80324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4800"/>
              <a:buFont typeface="Lato"/>
              <a:buNone/>
            </a:pPr>
            <a:r>
              <a:rPr lang="vi-VN">
                <a:latin typeface="Lato"/>
                <a:ea typeface="Lato"/>
                <a:cs typeface="Lato"/>
                <a:sym typeface="Lato"/>
              </a:rPr>
              <a:t>2. Kiến trúc mô hình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9"/>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a:t>
            </a:r>
            <a:r>
              <a:rPr lang="vi-VN"/>
              <a:t> TỔng quan phương pháp</a:t>
            </a:r>
            <a:endParaRPr/>
          </a:p>
        </p:txBody>
      </p:sp>
      <p:sp>
        <p:nvSpPr>
          <p:cNvPr id="108" name="Google Shape;108;p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pic>
        <p:nvPicPr>
          <p:cNvPr id="109" name="Google Shape;109;p9"/>
          <p:cNvPicPr preferRelativeResize="0"/>
          <p:nvPr/>
        </p:nvPicPr>
        <p:blipFill rotWithShape="1">
          <a:blip r:embed="rId3">
            <a:alphaModFix/>
          </a:blip>
          <a:srcRect b="0" l="0" r="0" t="0"/>
          <a:stretch/>
        </p:blipFill>
        <p:spPr>
          <a:xfrm>
            <a:off x="6246700" y="2190750"/>
            <a:ext cx="5905625" cy="2476500"/>
          </a:xfrm>
          <a:prstGeom prst="rect">
            <a:avLst/>
          </a:prstGeom>
          <a:noFill/>
          <a:ln>
            <a:noFill/>
          </a:ln>
        </p:spPr>
      </p:pic>
      <p:sp>
        <p:nvSpPr>
          <p:cNvPr id="110" name="Google Shape;110;p9"/>
          <p:cNvSpPr txBox="1"/>
          <p:nvPr/>
        </p:nvSpPr>
        <p:spPr>
          <a:xfrm>
            <a:off x="242800" y="1290750"/>
            <a:ext cx="60039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vi-VN" sz="2000" u="none" cap="none" strike="noStrike">
                <a:solidFill>
                  <a:schemeClr val="dk1"/>
                </a:solidFill>
                <a:latin typeface="Lato"/>
                <a:ea typeface="Lato"/>
                <a:cs typeface="Lato"/>
                <a:sym typeface="Lato"/>
              </a:rPr>
              <a:t>Huấn luyện ba mô hình recommendation độc lập trên cùng tập dữ liệu MIND: UniLM–Fastformer, MINER, NRMS</a:t>
            </a:r>
            <a:endParaRPr b="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rPr b="0" i="0" lang="vi-VN" sz="2000" u="none" cap="none" strike="noStrike">
                <a:solidFill>
                  <a:schemeClr val="dk1"/>
                </a:solidFill>
                <a:latin typeface="Lato"/>
                <a:ea typeface="Lato"/>
                <a:cs typeface="Lato"/>
                <a:sym typeface="Lato"/>
              </a:rPr>
              <a:t>-&gt; Mỗi mô hình tạo ra một vector điểm dự đoán cho từng impression trong tập dữ liệu</a:t>
            </a:r>
            <a:endParaRPr b="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rPr b="0" i="0" lang="vi-VN" sz="2000" u="none" cap="none" strike="noStrike">
                <a:solidFill>
                  <a:schemeClr val="dk1"/>
                </a:solidFill>
                <a:latin typeface="Lato"/>
                <a:ea typeface="Lato"/>
                <a:cs typeface="Lato"/>
                <a:sym typeface="Lato"/>
              </a:rPr>
              <a:t>Sử dụng LightGBM kết hợp cùng Optuna:</a:t>
            </a:r>
            <a:endParaRPr b="0" i="0" sz="2000" u="none" cap="none" strike="noStrike">
              <a:solidFill>
                <a:schemeClr val="dk1"/>
              </a:solidFill>
              <a:latin typeface="Lato"/>
              <a:ea typeface="Lato"/>
              <a:cs typeface="Lato"/>
              <a:sym typeface="Lato"/>
            </a:endParaRPr>
          </a:p>
          <a:p>
            <a:pPr indent="-355600" lvl="0" marL="457200" marR="0" rtl="0" algn="l">
              <a:lnSpc>
                <a:spcPct val="100000"/>
              </a:lnSpc>
              <a:spcBef>
                <a:spcPts val="0"/>
              </a:spcBef>
              <a:spcAft>
                <a:spcPts val="0"/>
              </a:spcAft>
              <a:buClr>
                <a:schemeClr val="dk1"/>
              </a:buClr>
              <a:buSzPts val="2000"/>
              <a:buFont typeface="Lato"/>
              <a:buChar char="●"/>
            </a:pPr>
            <a:r>
              <a:rPr b="0" i="0" lang="vi-VN" sz="2000" u="none" cap="none" strike="noStrike">
                <a:solidFill>
                  <a:schemeClr val="dk1"/>
                </a:solidFill>
                <a:latin typeface="Lato"/>
                <a:ea typeface="Lato"/>
                <a:cs typeface="Lato"/>
                <a:sym typeface="Lato"/>
              </a:rPr>
              <a:t>Học cách kết hợp tối ưu dự đoán từ ba mô hình Stage 1.</a:t>
            </a:r>
            <a:endParaRPr b="0" i="0" sz="2000" u="none" cap="none" strike="noStrike">
              <a:solidFill>
                <a:schemeClr val="dk1"/>
              </a:solidFill>
              <a:latin typeface="Lato"/>
              <a:ea typeface="Lato"/>
              <a:cs typeface="Lato"/>
              <a:sym typeface="Lato"/>
            </a:endParaRPr>
          </a:p>
          <a:p>
            <a:pPr indent="-355600" lvl="0" marL="457200" marR="0" rtl="0" algn="l">
              <a:lnSpc>
                <a:spcPct val="100000"/>
              </a:lnSpc>
              <a:spcBef>
                <a:spcPts val="0"/>
              </a:spcBef>
              <a:spcAft>
                <a:spcPts val="0"/>
              </a:spcAft>
              <a:buClr>
                <a:schemeClr val="dk1"/>
              </a:buClr>
              <a:buSzPts val="2000"/>
              <a:buFont typeface="Lato"/>
              <a:buChar char="●"/>
            </a:pPr>
            <a:r>
              <a:rPr b="0" i="0" lang="vi-VN" sz="2000" u="none" cap="none" strike="noStrike">
                <a:solidFill>
                  <a:schemeClr val="dk1"/>
                </a:solidFill>
                <a:latin typeface="Lato"/>
                <a:ea typeface="Lato"/>
                <a:cs typeface="Lato"/>
                <a:sym typeface="Lato"/>
              </a:rPr>
              <a:t>Khai thác mối quan hệ và độ mạnh/yếu của từng mô hình để cho ra dự đoán tốt hơn mô hình đơn lẻ.</a:t>
            </a:r>
            <a:endParaRPr b="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rPr b="0" i="0" lang="vi-VN" sz="2000" u="none" cap="none" strike="noStrike">
                <a:solidFill>
                  <a:schemeClr val="dk1"/>
                </a:solidFill>
                <a:latin typeface="Lato"/>
                <a:ea typeface="Lato"/>
                <a:cs typeface="Lato"/>
                <a:sym typeface="Lato"/>
              </a:rPr>
              <a:t>Đầu ra cuối cùng sẽ được lấy trung bình của LightGBM và Optuna</a:t>
            </a:r>
            <a:endParaRPr b="0" i="0" sz="2000" u="none" cap="none" strike="noStrike">
              <a:solidFill>
                <a:schemeClr val="dk1"/>
              </a:solidFill>
              <a:latin typeface="Lato"/>
              <a:ea typeface="Lato"/>
              <a:cs typeface="Lato"/>
              <a:sym typeface="Lato"/>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a3efca13b7_0_0"/>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a:t>
            </a:r>
            <a:r>
              <a:rPr lang="vi-VN"/>
              <a:t>1</a:t>
            </a:r>
            <a:r>
              <a:rPr lang="vi-VN">
                <a:latin typeface="Lato"/>
                <a:ea typeface="Lato"/>
                <a:cs typeface="Lato"/>
                <a:sym typeface="Lato"/>
              </a:rPr>
              <a:t>. Mô hình NRMS</a:t>
            </a:r>
            <a:endParaRPr/>
          </a:p>
        </p:txBody>
      </p:sp>
      <p:sp>
        <p:nvSpPr>
          <p:cNvPr id="116" name="Google Shape;116;g3a3efca13b7_0_0"/>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117" name="Google Shape;117;g3a3efca13b7_0_0"/>
          <p:cNvSpPr txBox="1"/>
          <p:nvPr/>
        </p:nvSpPr>
        <p:spPr>
          <a:xfrm>
            <a:off x="344055" y="1221847"/>
            <a:ext cx="6285000" cy="4402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vi-VN" sz="2000" u="none" cap="none" strike="noStrike">
                <a:solidFill>
                  <a:schemeClr val="dk1"/>
                </a:solidFill>
                <a:latin typeface="Lato"/>
                <a:ea typeface="Lato"/>
                <a:cs typeface="Lato"/>
                <a:sym typeface="Lato"/>
              </a:rPr>
              <a:t>Tổng quan về mô hình NRMS:</a:t>
            </a:r>
            <a:endParaRPr b="1" i="0" sz="2000" u="none" cap="none" strike="noStrike">
              <a:solidFill>
                <a:schemeClr val="dk1"/>
              </a:solidFill>
              <a:latin typeface="Lato"/>
              <a:ea typeface="Lato"/>
              <a:cs typeface="Lato"/>
              <a:sym typeface="Lato"/>
            </a:endParaRPr>
          </a:p>
          <a:p>
            <a:pPr indent="-285750" lvl="0" marL="285750" marR="0" rtl="0" algn="l">
              <a:lnSpc>
                <a:spcPct val="100000"/>
              </a:lnSpc>
              <a:spcBef>
                <a:spcPts val="0"/>
              </a:spcBef>
              <a:spcAft>
                <a:spcPts val="0"/>
              </a:spcAft>
              <a:buClr>
                <a:schemeClr val="dk1"/>
              </a:buClr>
              <a:buSzPts val="2000"/>
              <a:buFont typeface="Arial"/>
              <a:buChar char="•"/>
            </a:pPr>
            <a:r>
              <a:rPr b="1" i="0" lang="vi-VN" sz="2000" u="none" cap="none" strike="noStrike">
                <a:solidFill>
                  <a:schemeClr val="dk1"/>
                </a:solidFill>
                <a:latin typeface="Lato"/>
                <a:ea typeface="Lato"/>
                <a:cs typeface="Lato"/>
                <a:sym typeface="Lato"/>
              </a:rPr>
              <a:t>Mục tiêu chính</a:t>
            </a:r>
            <a:r>
              <a:rPr b="0" i="0" lang="vi-VN" sz="2000" u="none" cap="none" strike="noStrike">
                <a:solidFill>
                  <a:schemeClr val="dk1"/>
                </a:solidFill>
                <a:latin typeface="Lato"/>
                <a:ea typeface="Lato"/>
                <a:cs typeface="Lato"/>
                <a:sym typeface="Lato"/>
              </a:rPr>
              <a:t>: NRMS tìm hiểu sở thích của người dùng thông qua lịch sử đọc tin tức và gợi ý những bài báo mà người dùng có thể quan tâm.</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1" i="0" lang="vi-VN" sz="2000" u="none" cap="none" strike="noStrike">
                <a:solidFill>
                  <a:schemeClr val="dk1"/>
                </a:solidFill>
                <a:latin typeface="Lato"/>
                <a:ea typeface="Lato"/>
                <a:cs typeface="Lato"/>
                <a:sym typeface="Lato"/>
              </a:rPr>
              <a:t>Ý tưởng chính</a:t>
            </a:r>
            <a:r>
              <a:rPr b="0" i="0" lang="vi-VN" sz="2000" u="none" cap="none" strike="noStrike">
                <a:solidFill>
                  <a:schemeClr val="dk1"/>
                </a:solidFill>
                <a:latin typeface="Lato"/>
                <a:ea typeface="Lato"/>
                <a:cs typeface="Lato"/>
                <a:sym typeface="Lato"/>
              </a:rPr>
              <a:t>:</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Biểu diễn mỗi bài báo thông qua tiêu đề và sử dụng self-attention để mã hóa thông tin từ các bài báo.</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Kết hợp thông tin từ lịch sử đọc tin để xây dựng biểu diễn người dùng (user embedding).</a:t>
            </a:r>
            <a:endParaRPr b="0" i="0" sz="2000" u="none" cap="none" strike="noStrike">
              <a:solidFill>
                <a:schemeClr val="dk1"/>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Xếp hạng các bài báo ứng viên dựa trên mức độ tương đồng giữa biểu diễn bài báo và biểu diễn người dùng.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Lato"/>
              <a:ea typeface="Lato"/>
              <a:cs typeface="Lato"/>
              <a:sym typeface="Lato"/>
            </a:endParaRPr>
          </a:p>
        </p:txBody>
      </p:sp>
      <p:pic>
        <p:nvPicPr>
          <p:cNvPr descr="A diagram of a new news encoder&#10;&#10;Description automatically generated" id="118" name="Google Shape;118;g3a3efca13b7_0_0"/>
          <p:cNvPicPr preferRelativeResize="0"/>
          <p:nvPr/>
        </p:nvPicPr>
        <p:blipFill rotWithShape="1">
          <a:blip r:embed="rId3">
            <a:alphaModFix/>
          </a:blip>
          <a:srcRect b="0" l="0" r="0" t="0"/>
          <a:stretch/>
        </p:blipFill>
        <p:spPr>
          <a:xfrm>
            <a:off x="6828326" y="1501653"/>
            <a:ext cx="4643072" cy="384297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0"/>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a:t>
            </a:r>
            <a:r>
              <a:rPr lang="vi-VN"/>
              <a:t>1</a:t>
            </a:r>
            <a:r>
              <a:rPr lang="vi-VN">
                <a:latin typeface="Lato"/>
                <a:ea typeface="Lato"/>
                <a:cs typeface="Lato"/>
                <a:sym typeface="Lato"/>
              </a:rPr>
              <a:t>. Mô hình NRMS</a:t>
            </a:r>
            <a:endParaRPr/>
          </a:p>
        </p:txBody>
      </p:sp>
      <p:sp>
        <p:nvSpPr>
          <p:cNvPr id="124" name="Google Shape;124;p1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125" name="Google Shape;125;p10"/>
          <p:cNvSpPr txBox="1"/>
          <p:nvPr/>
        </p:nvSpPr>
        <p:spPr>
          <a:xfrm>
            <a:off x="191655" y="858432"/>
            <a:ext cx="7785600" cy="163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1" i="0" lang="vi-VN" sz="2000" u="none" cap="none" strike="noStrike">
                <a:solidFill>
                  <a:schemeClr val="dk1"/>
                </a:solidFill>
                <a:latin typeface="Lato"/>
                <a:ea typeface="Lato"/>
                <a:cs typeface="Lato"/>
                <a:sym typeface="Lato"/>
              </a:rPr>
              <a:t>News Encoder:</a:t>
            </a:r>
            <a:endParaRPr b="0" i="0" sz="2000" u="none" cap="none" strike="noStrike">
              <a:solidFill>
                <a:schemeClr val="dk1"/>
              </a:solidFill>
              <a:latin typeface="Lato"/>
              <a:ea typeface="Lato"/>
              <a:cs typeface="Lato"/>
              <a:sym typeface="Lato"/>
            </a:endParaRPr>
          </a:p>
          <a:p>
            <a:pPr indent="-285750" lvl="0" marL="285750" marR="0" rtl="0" algn="just">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Tiêu đề của mỗi bài báo được chia thành các từ (tokenize) và mã hóa thành các vector (sử dụng </a:t>
            </a:r>
            <a:r>
              <a:rPr lang="vi-VN" sz="2000">
                <a:solidFill>
                  <a:schemeClr val="dk1"/>
                </a:solidFill>
                <a:latin typeface="Lato"/>
                <a:ea typeface="Lato"/>
                <a:cs typeface="Lato"/>
                <a:sym typeface="Lato"/>
              </a:rPr>
              <a:t>Distil</a:t>
            </a:r>
            <a:r>
              <a:rPr b="0" i="0" lang="vi-VN" sz="2000" u="none" cap="none" strike="noStrike">
                <a:solidFill>
                  <a:schemeClr val="dk1"/>
                </a:solidFill>
                <a:latin typeface="Lato"/>
                <a:ea typeface="Lato"/>
                <a:cs typeface="Lato"/>
                <a:sym typeface="Lato"/>
              </a:rPr>
              <a:t>BERT).</a:t>
            </a:r>
            <a:endParaRPr b="0" i="0" sz="20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Một </a:t>
            </a:r>
            <a:r>
              <a:rPr b="1" i="0" lang="vi-VN" sz="2000" u="none" cap="none" strike="noStrike">
                <a:solidFill>
                  <a:schemeClr val="dk1"/>
                </a:solidFill>
                <a:latin typeface="Lato"/>
                <a:ea typeface="Lato"/>
                <a:cs typeface="Lato"/>
                <a:sym typeface="Lato"/>
              </a:rPr>
              <a:t>multi-head self-attention</a:t>
            </a:r>
            <a:r>
              <a:rPr b="0" i="0" lang="vi-VN" sz="2000" u="none" cap="none" strike="noStrike">
                <a:solidFill>
                  <a:schemeClr val="dk1"/>
                </a:solidFill>
                <a:latin typeface="Lato"/>
                <a:ea typeface="Lato"/>
                <a:cs typeface="Lato"/>
                <a:sym typeface="Lato"/>
              </a:rPr>
              <a:t> được sử dụng để trích xuất thông tin quan trọng từ các từ trong tiêu đề, tạo ra biểu diễn bài </a:t>
            </a:r>
            <a:r>
              <a:rPr lang="vi-VN" sz="2000">
                <a:solidFill>
                  <a:schemeClr val="dk1"/>
                </a:solidFill>
                <a:latin typeface="Lato"/>
                <a:ea typeface="Lato"/>
                <a:cs typeface="Lato"/>
                <a:sym typeface="Lato"/>
              </a:rPr>
              <a:t>báo h</a:t>
            </a:r>
            <a:r>
              <a:rPr baseline="-25000" lang="vi-VN" sz="2000">
                <a:solidFill>
                  <a:schemeClr val="dk1"/>
                </a:solidFill>
                <a:latin typeface="Lato"/>
                <a:ea typeface="Lato"/>
                <a:cs typeface="Lato"/>
                <a:sym typeface="Lato"/>
              </a:rPr>
              <a:t>n</a:t>
            </a:r>
            <a:endParaRPr b="1" i="0" sz="2000" u="none" cap="none" strike="noStrike">
              <a:solidFill>
                <a:schemeClr val="dk1"/>
              </a:solidFill>
              <a:latin typeface="Lato"/>
              <a:ea typeface="Lato"/>
              <a:cs typeface="Lato"/>
              <a:sym typeface="Lato"/>
            </a:endParaRPr>
          </a:p>
        </p:txBody>
      </p:sp>
      <p:pic>
        <p:nvPicPr>
          <p:cNvPr descr="A diagram of a new news encoder&#10;&#10;Description automatically generated" id="126" name="Google Shape;126;p10"/>
          <p:cNvPicPr preferRelativeResize="0"/>
          <p:nvPr/>
        </p:nvPicPr>
        <p:blipFill rotWithShape="1">
          <a:blip r:embed="rId3">
            <a:alphaModFix/>
          </a:blip>
          <a:srcRect b="0" l="0" r="0" t="0"/>
          <a:stretch/>
        </p:blipFill>
        <p:spPr>
          <a:xfrm>
            <a:off x="8106141" y="1712668"/>
            <a:ext cx="3939688" cy="3256819"/>
          </a:xfrm>
          <a:prstGeom prst="rect">
            <a:avLst/>
          </a:prstGeom>
          <a:noFill/>
          <a:ln>
            <a:noFill/>
          </a:ln>
        </p:spPr>
      </p:pic>
      <p:sp>
        <p:nvSpPr>
          <p:cNvPr id="127" name="Google Shape;127;p10"/>
          <p:cNvSpPr txBox="1"/>
          <p:nvPr/>
        </p:nvSpPr>
        <p:spPr>
          <a:xfrm>
            <a:off x="94700" y="2582175"/>
            <a:ext cx="7590300" cy="708000"/>
          </a:xfrm>
          <a:prstGeom prst="rect">
            <a:avLst/>
          </a:prstGeom>
          <a:noFill/>
          <a:ln>
            <a:noFill/>
          </a:ln>
        </p:spPr>
        <p:txBody>
          <a:bodyPr anchorCtr="0" anchor="t" bIns="45700" lIns="91425" spcFirstLastPara="1" rIns="91425" wrap="square" tIns="45700">
            <a:spAutoFit/>
          </a:bodyPr>
          <a:lstStyle/>
          <a:p>
            <a:pPr indent="-311150" lvl="0" marL="457200" marR="13970" rtl="0" algn="just">
              <a:lnSpc>
                <a:spcPct val="100000"/>
              </a:lnSpc>
              <a:spcBef>
                <a:spcPts val="780"/>
              </a:spcBef>
              <a:spcAft>
                <a:spcPts val="0"/>
              </a:spcAft>
              <a:buClr>
                <a:schemeClr val="dk1"/>
              </a:buClr>
              <a:buSzPts val="1300"/>
              <a:buFont typeface="Lato"/>
              <a:buChar char="•"/>
            </a:pPr>
            <a:r>
              <a:rPr lang="vi-VN" sz="2000">
                <a:solidFill>
                  <a:schemeClr val="dk1"/>
                </a:solidFill>
                <a:latin typeface="Lato"/>
                <a:ea typeface="Lato"/>
                <a:cs typeface="Lato"/>
                <a:sym typeface="Lato"/>
              </a:rPr>
              <a:t>Biểu diễn của từ thứ i được học bởi attention head thứ k có công thức như sau:</a:t>
            </a:r>
            <a:endParaRPr b="1" i="0" sz="2000" u="none" cap="none" strike="noStrike">
              <a:solidFill>
                <a:schemeClr val="dk1"/>
              </a:solidFill>
              <a:latin typeface="Lato"/>
              <a:ea typeface="Lato"/>
              <a:cs typeface="Lato"/>
              <a:sym typeface="Lato"/>
            </a:endParaRPr>
          </a:p>
        </p:txBody>
      </p:sp>
      <p:pic>
        <p:nvPicPr>
          <p:cNvPr id="128" name="Google Shape;128;p10"/>
          <p:cNvPicPr preferRelativeResize="0"/>
          <p:nvPr/>
        </p:nvPicPr>
        <p:blipFill>
          <a:blip r:embed="rId4">
            <a:alphaModFix/>
          </a:blip>
          <a:stretch>
            <a:fillRect/>
          </a:stretch>
        </p:blipFill>
        <p:spPr>
          <a:xfrm>
            <a:off x="2558200" y="3073163"/>
            <a:ext cx="2663300" cy="1320725"/>
          </a:xfrm>
          <a:prstGeom prst="rect">
            <a:avLst/>
          </a:prstGeom>
          <a:noFill/>
          <a:ln>
            <a:noFill/>
          </a:ln>
        </p:spPr>
      </p:pic>
      <p:sp>
        <p:nvSpPr>
          <p:cNvPr id="129" name="Google Shape;129;p10"/>
          <p:cNvSpPr txBox="1"/>
          <p:nvPr/>
        </p:nvSpPr>
        <p:spPr>
          <a:xfrm>
            <a:off x="94700" y="4393875"/>
            <a:ext cx="7590300" cy="1323600"/>
          </a:xfrm>
          <a:prstGeom prst="rect">
            <a:avLst/>
          </a:prstGeom>
          <a:noFill/>
          <a:ln>
            <a:noFill/>
          </a:ln>
        </p:spPr>
        <p:txBody>
          <a:bodyPr anchorCtr="0" anchor="t" bIns="45700" lIns="91425" spcFirstLastPara="1" rIns="91425" wrap="square" tIns="45700">
            <a:spAutoFit/>
          </a:bodyPr>
          <a:lstStyle/>
          <a:p>
            <a:pPr indent="0" lvl="0" marL="457200" rtl="0" algn="just">
              <a:lnSpc>
                <a:spcPct val="100000"/>
              </a:lnSpc>
              <a:spcBef>
                <a:spcPts val="550"/>
              </a:spcBef>
              <a:spcAft>
                <a:spcPts val="0"/>
              </a:spcAft>
              <a:buNone/>
            </a:pPr>
            <a:r>
              <a:rPr lang="vi-VN" sz="2000">
                <a:solidFill>
                  <a:schemeClr val="dk1"/>
                </a:solidFill>
                <a:latin typeface="Lato"/>
                <a:ea typeface="Lato"/>
                <a:cs typeface="Lato"/>
                <a:sym typeface="Lato"/>
              </a:rPr>
              <a:t>trong đó 𝑄</a:t>
            </a:r>
            <a:r>
              <a:rPr baseline="-25000" lang="vi-VN" sz="2000">
                <a:solidFill>
                  <a:schemeClr val="dk1"/>
                </a:solidFill>
                <a:latin typeface="Lato"/>
                <a:ea typeface="Lato"/>
                <a:cs typeface="Lato"/>
                <a:sym typeface="Lato"/>
              </a:rPr>
              <a:t>k</a:t>
            </a:r>
            <a:r>
              <a:rPr baseline="30000" lang="vi-VN" sz="2000">
                <a:solidFill>
                  <a:schemeClr val="dk1"/>
                </a:solidFill>
                <a:latin typeface="Lato"/>
                <a:ea typeface="Lato"/>
                <a:cs typeface="Lato"/>
                <a:sym typeface="Lato"/>
              </a:rPr>
              <a:t>𝑤 </a:t>
            </a:r>
            <a:r>
              <a:rPr lang="vi-VN" sz="2000">
                <a:solidFill>
                  <a:schemeClr val="dk1"/>
                </a:solidFill>
                <a:latin typeface="Lato"/>
                <a:ea typeface="Lato"/>
                <a:cs typeface="Lato"/>
                <a:sym typeface="Lato"/>
              </a:rPr>
              <a:t> , 𝑉</a:t>
            </a:r>
            <a:r>
              <a:rPr baseline="-25000" lang="vi-VN" sz="2000">
                <a:solidFill>
                  <a:schemeClr val="dk1"/>
                </a:solidFill>
                <a:latin typeface="Lato"/>
                <a:ea typeface="Lato"/>
                <a:cs typeface="Lato"/>
                <a:sym typeface="Lato"/>
              </a:rPr>
              <a:t>k</a:t>
            </a:r>
            <a:r>
              <a:rPr baseline="30000" lang="vi-VN" sz="2000">
                <a:solidFill>
                  <a:schemeClr val="dk1"/>
                </a:solidFill>
                <a:latin typeface="Lato"/>
                <a:ea typeface="Lato"/>
                <a:cs typeface="Lato"/>
                <a:sym typeface="Lato"/>
              </a:rPr>
              <a:t>𝑤 </a:t>
            </a:r>
            <a:r>
              <a:rPr lang="vi-VN" sz="2000">
                <a:solidFill>
                  <a:schemeClr val="dk1"/>
                </a:solidFill>
                <a:latin typeface="Lato"/>
                <a:ea typeface="Lato"/>
                <a:cs typeface="Lato"/>
                <a:sym typeface="Lato"/>
              </a:rPr>
              <a:t>là tham số của self-attention head thứ k, và 𝛼</a:t>
            </a:r>
            <a:r>
              <a:rPr baseline="-25000" lang="vi-VN" sz="2000">
                <a:solidFill>
                  <a:schemeClr val="dk1"/>
                </a:solidFill>
                <a:latin typeface="Lato"/>
                <a:ea typeface="Lato"/>
                <a:cs typeface="Lato"/>
                <a:sym typeface="Lato"/>
              </a:rPr>
              <a:t>i,j</a:t>
            </a:r>
            <a:r>
              <a:rPr baseline="30000" lang="vi-VN" sz="2000">
                <a:solidFill>
                  <a:schemeClr val="dk1"/>
                </a:solidFill>
                <a:latin typeface="Lato"/>
                <a:ea typeface="Lato"/>
                <a:cs typeface="Lato"/>
                <a:sym typeface="Lato"/>
              </a:rPr>
              <a:t>𝑘  </a:t>
            </a:r>
            <a:r>
              <a:rPr lang="vi-VN" sz="2000">
                <a:solidFill>
                  <a:schemeClr val="dk1"/>
                </a:solidFill>
                <a:latin typeface="Lato"/>
                <a:ea typeface="Lato"/>
                <a:cs typeface="Lato"/>
                <a:sym typeface="Lato"/>
              </a:rPr>
              <a:t>là độ quan trọng của tương tác giữa từ thứ i và từ thứ j. Kết quả cuối cùng được tổng hợp bằng cách nối liên tiếp kết quả của h self-attention head:</a:t>
            </a:r>
            <a:endParaRPr sz="2000">
              <a:solidFill>
                <a:schemeClr val="dk1"/>
              </a:solidFill>
              <a:latin typeface="Lato"/>
              <a:ea typeface="Lato"/>
              <a:cs typeface="Lato"/>
              <a:sym typeface="Lato"/>
            </a:endParaRPr>
          </a:p>
        </p:txBody>
      </p:sp>
      <p:pic>
        <p:nvPicPr>
          <p:cNvPr id="130" name="Google Shape;130;p10"/>
          <p:cNvPicPr preferRelativeResize="0"/>
          <p:nvPr/>
        </p:nvPicPr>
        <p:blipFill>
          <a:blip r:embed="rId5">
            <a:alphaModFix/>
          </a:blip>
          <a:stretch>
            <a:fillRect/>
          </a:stretch>
        </p:blipFill>
        <p:spPr>
          <a:xfrm>
            <a:off x="3200400" y="5531050"/>
            <a:ext cx="2214001" cy="4361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b7941afaaa_5_28"/>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a:t>
            </a:r>
            <a:r>
              <a:rPr lang="vi-VN"/>
              <a:t>1</a:t>
            </a:r>
            <a:r>
              <a:rPr lang="vi-VN">
                <a:latin typeface="Lato"/>
                <a:ea typeface="Lato"/>
                <a:cs typeface="Lato"/>
                <a:sym typeface="Lato"/>
              </a:rPr>
              <a:t>. Mô hình NRMS</a:t>
            </a:r>
            <a:endParaRPr/>
          </a:p>
        </p:txBody>
      </p:sp>
      <p:sp>
        <p:nvSpPr>
          <p:cNvPr id="136" name="Google Shape;136;g3b7941afaaa_5_28"/>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137" name="Google Shape;137;g3b7941afaaa_5_28"/>
          <p:cNvSpPr txBox="1"/>
          <p:nvPr/>
        </p:nvSpPr>
        <p:spPr>
          <a:xfrm>
            <a:off x="191655" y="858432"/>
            <a:ext cx="7785600" cy="197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vi-VN" sz="2000" u="none" cap="none" strike="noStrike">
                <a:solidFill>
                  <a:schemeClr val="dk1"/>
                </a:solidFill>
                <a:latin typeface="Lato"/>
                <a:ea typeface="Lato"/>
                <a:cs typeface="Lato"/>
                <a:sym typeface="Lato"/>
              </a:rPr>
              <a:t>News Encoder:</a:t>
            </a:r>
            <a:endParaRPr b="0" i="0" sz="2000" u="none" cap="none" strike="noStrike">
              <a:solidFill>
                <a:schemeClr val="dk1"/>
              </a:solidFill>
              <a:latin typeface="Lato"/>
              <a:ea typeface="Lato"/>
              <a:cs typeface="Lato"/>
              <a:sym typeface="Lato"/>
            </a:endParaRPr>
          </a:p>
          <a:p>
            <a:pPr indent="-355600" lvl="0" marL="457200" rtl="0" algn="just">
              <a:lnSpc>
                <a:spcPct val="100000"/>
              </a:lnSpc>
              <a:spcBef>
                <a:spcPts val="310"/>
              </a:spcBef>
              <a:spcAft>
                <a:spcPts val="0"/>
              </a:spcAft>
              <a:buClr>
                <a:schemeClr val="dk1"/>
              </a:buClr>
              <a:buSzPts val="2000"/>
              <a:buChar char="•"/>
            </a:pPr>
            <a:r>
              <a:rPr lang="vi-VN" sz="2000">
                <a:solidFill>
                  <a:schemeClr val="dk1"/>
                </a:solidFill>
                <a:latin typeface="Lato"/>
                <a:ea typeface="Lato"/>
                <a:cs typeface="Lato"/>
                <a:sym typeface="Lato"/>
              </a:rPr>
              <a:t>Lớp cuối cùng là lớp additive attention vì những từ khác nhau sẽ có mức độ quan trọng khác nhau đối với biểu diễn tiêu đề bài báo. Trọng số attention 𝛼</a:t>
            </a:r>
            <a:r>
              <a:rPr baseline="-25000" lang="vi-VN" sz="2000">
                <a:solidFill>
                  <a:schemeClr val="dk1"/>
                </a:solidFill>
                <a:latin typeface="Lato"/>
                <a:ea typeface="Lato"/>
                <a:cs typeface="Lato"/>
                <a:sym typeface="Lato"/>
              </a:rPr>
              <a:t>i</a:t>
            </a:r>
            <a:r>
              <a:rPr baseline="30000" lang="vi-VN" sz="2000">
                <a:solidFill>
                  <a:schemeClr val="dk1"/>
                </a:solidFill>
                <a:latin typeface="Lato"/>
                <a:ea typeface="Lato"/>
                <a:cs typeface="Lato"/>
                <a:sym typeface="Lato"/>
              </a:rPr>
              <a:t>𝑤 </a:t>
            </a:r>
            <a:r>
              <a:rPr lang="vi-VN" sz="2000">
                <a:solidFill>
                  <a:schemeClr val="dk1"/>
                </a:solidFill>
                <a:latin typeface="Lato"/>
                <a:ea typeface="Lato"/>
                <a:cs typeface="Lato"/>
                <a:sym typeface="Lato"/>
              </a:rPr>
              <a:t>của từ thứ i được tính toán như sau:</a:t>
            </a:r>
            <a:endParaRPr b="1" i="0" sz="2000" u="none" cap="none" strike="noStrike">
              <a:solidFill>
                <a:schemeClr val="dk1"/>
              </a:solidFill>
              <a:latin typeface="Lato"/>
              <a:ea typeface="Lato"/>
              <a:cs typeface="Lato"/>
              <a:sym typeface="Lato"/>
            </a:endParaRPr>
          </a:p>
          <a:p>
            <a:pPr indent="-158750" lvl="0" marL="285750" marR="0" rtl="0" algn="l">
              <a:lnSpc>
                <a:spcPct val="100000"/>
              </a:lnSpc>
              <a:spcBef>
                <a:spcPts val="0"/>
              </a:spcBef>
              <a:spcAft>
                <a:spcPts val="0"/>
              </a:spcAft>
              <a:buClr>
                <a:schemeClr val="dk1"/>
              </a:buClr>
              <a:buSzPts val="2000"/>
              <a:buFont typeface="Arial"/>
              <a:buNone/>
            </a:pPr>
            <a:r>
              <a:t/>
            </a:r>
            <a:endParaRPr b="0" baseline="-2500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Lato"/>
              <a:ea typeface="Lato"/>
              <a:cs typeface="Lato"/>
              <a:sym typeface="Lato"/>
            </a:endParaRPr>
          </a:p>
        </p:txBody>
      </p:sp>
      <p:pic>
        <p:nvPicPr>
          <p:cNvPr descr="A diagram of a new news encoder&#10;&#10;Description automatically generated" id="138" name="Google Shape;138;g3b7941afaaa_5_28"/>
          <p:cNvPicPr preferRelativeResize="0"/>
          <p:nvPr/>
        </p:nvPicPr>
        <p:blipFill rotWithShape="1">
          <a:blip r:embed="rId3">
            <a:alphaModFix/>
          </a:blip>
          <a:srcRect b="0" l="0" r="0" t="0"/>
          <a:stretch/>
        </p:blipFill>
        <p:spPr>
          <a:xfrm>
            <a:off x="8106141" y="1712668"/>
            <a:ext cx="3939688" cy="3256819"/>
          </a:xfrm>
          <a:prstGeom prst="rect">
            <a:avLst/>
          </a:prstGeom>
          <a:noFill/>
          <a:ln>
            <a:noFill/>
          </a:ln>
        </p:spPr>
      </p:pic>
      <p:pic>
        <p:nvPicPr>
          <p:cNvPr id="139" name="Google Shape;139;g3b7941afaaa_5_28"/>
          <p:cNvPicPr preferRelativeResize="0"/>
          <p:nvPr/>
        </p:nvPicPr>
        <p:blipFill>
          <a:blip r:embed="rId4">
            <a:alphaModFix/>
          </a:blip>
          <a:stretch>
            <a:fillRect/>
          </a:stretch>
        </p:blipFill>
        <p:spPr>
          <a:xfrm>
            <a:off x="2445550" y="2305750"/>
            <a:ext cx="2743200" cy="982133"/>
          </a:xfrm>
          <a:prstGeom prst="rect">
            <a:avLst/>
          </a:prstGeom>
          <a:noFill/>
          <a:ln>
            <a:noFill/>
          </a:ln>
        </p:spPr>
      </p:pic>
      <p:sp>
        <p:nvSpPr>
          <p:cNvPr id="140" name="Google Shape;140;g3b7941afaaa_5_28"/>
          <p:cNvSpPr txBox="1"/>
          <p:nvPr/>
        </p:nvSpPr>
        <p:spPr>
          <a:xfrm>
            <a:off x="632330" y="3460657"/>
            <a:ext cx="7785600" cy="400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005"/>
              </a:spcBef>
              <a:spcAft>
                <a:spcPts val="0"/>
              </a:spcAft>
              <a:buNone/>
            </a:pPr>
            <a:r>
              <a:rPr lang="vi-VN" sz="2000">
                <a:solidFill>
                  <a:schemeClr val="dk1"/>
                </a:solidFill>
                <a:latin typeface="Lato"/>
                <a:ea typeface="Lato"/>
                <a:cs typeface="Lato"/>
                <a:sym typeface="Lato"/>
              </a:rPr>
              <a:t>trong đó 𝑉</a:t>
            </a:r>
            <a:r>
              <a:rPr baseline="-25000" lang="vi-VN" sz="2000">
                <a:solidFill>
                  <a:schemeClr val="dk1"/>
                </a:solidFill>
                <a:latin typeface="Lato"/>
                <a:ea typeface="Lato"/>
                <a:cs typeface="Lato"/>
                <a:sym typeface="Lato"/>
              </a:rPr>
              <a:t>𝑤</a:t>
            </a:r>
            <a:r>
              <a:rPr lang="vi-VN" sz="2000">
                <a:solidFill>
                  <a:schemeClr val="dk1"/>
                </a:solidFill>
                <a:latin typeface="Lato"/>
                <a:ea typeface="Lato"/>
                <a:cs typeface="Lato"/>
                <a:sym typeface="Lato"/>
              </a:rPr>
              <a:t> và 𝑣</a:t>
            </a:r>
            <a:r>
              <a:rPr baseline="-25000" lang="vi-VN" sz="2000">
                <a:solidFill>
                  <a:schemeClr val="dk1"/>
                </a:solidFill>
                <a:latin typeface="Lato"/>
                <a:ea typeface="Lato"/>
                <a:cs typeface="Lato"/>
                <a:sym typeface="Lato"/>
              </a:rPr>
              <a:t>𝑤</a:t>
            </a:r>
            <a:r>
              <a:rPr lang="vi-VN" sz="2000">
                <a:solidFill>
                  <a:schemeClr val="dk1"/>
                </a:solidFill>
                <a:latin typeface="Lato"/>
                <a:ea typeface="Lato"/>
                <a:cs typeface="Lato"/>
                <a:sym typeface="Lato"/>
              </a:rPr>
              <a:t> là tham số, 𝑞</a:t>
            </a:r>
            <a:r>
              <a:rPr baseline="-25000" lang="vi-VN" sz="2000">
                <a:solidFill>
                  <a:schemeClr val="dk1"/>
                </a:solidFill>
                <a:latin typeface="Lato"/>
                <a:ea typeface="Lato"/>
                <a:cs typeface="Lato"/>
                <a:sym typeface="Lato"/>
              </a:rPr>
              <a:t>𝑤</a:t>
            </a:r>
            <a:r>
              <a:rPr lang="vi-VN" sz="2000">
                <a:solidFill>
                  <a:schemeClr val="dk1"/>
                </a:solidFill>
                <a:latin typeface="Lato"/>
                <a:ea typeface="Lato"/>
                <a:cs typeface="Lato"/>
                <a:sym typeface="Lato"/>
              </a:rPr>
              <a:t> là vector query.</a:t>
            </a:r>
            <a:endParaRPr b="1" i="0" sz="2000" u="none" cap="none" strike="noStrike">
              <a:solidFill>
                <a:schemeClr val="dk1"/>
              </a:solidFill>
              <a:latin typeface="Lato"/>
              <a:ea typeface="Lato"/>
              <a:cs typeface="Lato"/>
              <a:sym typeface="Lato"/>
            </a:endParaRPr>
          </a:p>
        </p:txBody>
      </p:sp>
      <p:sp>
        <p:nvSpPr>
          <p:cNvPr id="141" name="Google Shape;141;g3b7941afaaa_5_28"/>
          <p:cNvSpPr txBox="1"/>
          <p:nvPr/>
        </p:nvSpPr>
        <p:spPr>
          <a:xfrm>
            <a:off x="191655" y="3536382"/>
            <a:ext cx="7785600" cy="2183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Lato"/>
              <a:ea typeface="Lato"/>
              <a:cs typeface="Lato"/>
              <a:sym typeface="Lato"/>
            </a:endParaRPr>
          </a:p>
          <a:p>
            <a:pPr indent="-311150" lvl="0" marL="457200" rtl="0" algn="l">
              <a:lnSpc>
                <a:spcPct val="115000"/>
              </a:lnSpc>
              <a:spcBef>
                <a:spcPts val="875"/>
              </a:spcBef>
              <a:spcAft>
                <a:spcPts val="0"/>
              </a:spcAft>
              <a:buClr>
                <a:schemeClr val="dk1"/>
              </a:buClr>
              <a:buSzPts val="1300"/>
              <a:buFont typeface="Lato"/>
              <a:buChar char="•"/>
            </a:pPr>
            <a:r>
              <a:rPr lang="vi-VN" sz="2000">
                <a:solidFill>
                  <a:schemeClr val="dk1"/>
                </a:solidFill>
                <a:latin typeface="Lato"/>
                <a:ea typeface="Lato"/>
                <a:cs typeface="Lato"/>
                <a:sym typeface="Lato"/>
              </a:rPr>
              <a:t>Biểu diễn cuối cùng của tiêu đề bài báo là tổng hợp có trọng số của các token:</a:t>
            </a:r>
            <a:endParaRPr sz="2000">
              <a:solidFill>
                <a:schemeClr val="dk1"/>
              </a:solidFill>
              <a:latin typeface="Lato"/>
              <a:ea typeface="Lato"/>
              <a:cs typeface="Lato"/>
              <a:sym typeface="Lato"/>
            </a:endParaRPr>
          </a:p>
          <a:p>
            <a:pPr indent="0" lvl="0" marL="0" rtl="0" algn="just">
              <a:lnSpc>
                <a:spcPct val="100000"/>
              </a:lnSpc>
              <a:spcBef>
                <a:spcPts val="310"/>
              </a:spcBef>
              <a:spcAft>
                <a:spcPts val="0"/>
              </a:spcAft>
              <a:buNone/>
            </a:pPr>
            <a:r>
              <a:t/>
            </a:r>
            <a:endParaRPr sz="2000">
              <a:solidFill>
                <a:schemeClr val="dk1"/>
              </a:solidFill>
              <a:latin typeface="Lato"/>
              <a:ea typeface="Lato"/>
              <a:cs typeface="Lato"/>
              <a:sym typeface="Lato"/>
            </a:endParaRPr>
          </a:p>
          <a:p>
            <a:pPr indent="-158750" lvl="0" marL="285750" marR="0" rtl="0" algn="l">
              <a:lnSpc>
                <a:spcPct val="100000"/>
              </a:lnSpc>
              <a:spcBef>
                <a:spcPts val="0"/>
              </a:spcBef>
              <a:spcAft>
                <a:spcPts val="0"/>
              </a:spcAft>
              <a:buClr>
                <a:schemeClr val="dk1"/>
              </a:buClr>
              <a:buSzPts val="2000"/>
              <a:buFont typeface="Arial"/>
              <a:buNone/>
            </a:pPr>
            <a:r>
              <a:t/>
            </a:r>
            <a:endParaRPr b="0" baseline="-2500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Lato"/>
              <a:ea typeface="Lato"/>
              <a:cs typeface="Lato"/>
              <a:sym typeface="Lato"/>
            </a:endParaRPr>
          </a:p>
        </p:txBody>
      </p:sp>
      <p:pic>
        <p:nvPicPr>
          <p:cNvPr id="142" name="Google Shape;142;g3b7941afaaa_5_28"/>
          <p:cNvPicPr preferRelativeResize="0"/>
          <p:nvPr/>
        </p:nvPicPr>
        <p:blipFill>
          <a:blip r:embed="rId5">
            <a:alphaModFix/>
          </a:blip>
          <a:stretch>
            <a:fillRect/>
          </a:stretch>
        </p:blipFill>
        <p:spPr>
          <a:xfrm>
            <a:off x="2793400" y="4573632"/>
            <a:ext cx="1924050" cy="7048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b7941afaaa_5_35"/>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a:t>
            </a:r>
            <a:r>
              <a:rPr lang="vi-VN"/>
              <a:t>1</a:t>
            </a:r>
            <a:r>
              <a:rPr lang="vi-VN">
                <a:latin typeface="Lato"/>
                <a:ea typeface="Lato"/>
                <a:cs typeface="Lato"/>
                <a:sym typeface="Lato"/>
              </a:rPr>
              <a:t>. Mô hình NRMS</a:t>
            </a:r>
            <a:endParaRPr/>
          </a:p>
        </p:txBody>
      </p:sp>
      <p:sp>
        <p:nvSpPr>
          <p:cNvPr id="148" name="Google Shape;148;g3b7941afaaa_5_35"/>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149" name="Google Shape;149;g3b7941afaaa_5_35"/>
          <p:cNvSpPr txBox="1"/>
          <p:nvPr/>
        </p:nvSpPr>
        <p:spPr>
          <a:xfrm>
            <a:off x="191655" y="858432"/>
            <a:ext cx="7785600" cy="501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vi-VN" sz="2000" u="none" cap="none" strike="noStrike">
                <a:solidFill>
                  <a:schemeClr val="dk1"/>
                </a:solidFill>
                <a:latin typeface="Lato"/>
                <a:ea typeface="Lato"/>
                <a:cs typeface="Lato"/>
                <a:sym typeface="Lato"/>
              </a:rPr>
              <a:t>User Encoder:</a:t>
            </a:r>
            <a:endParaRPr b="0" i="0" sz="2000" u="none" cap="none" strike="noStrike">
              <a:solidFill>
                <a:schemeClr val="dk1"/>
              </a:solidFill>
              <a:latin typeface="Lato"/>
              <a:ea typeface="Lato"/>
              <a:cs typeface="Lato"/>
              <a:sym typeface="Lato"/>
            </a:endParaRPr>
          </a:p>
          <a:p>
            <a:pPr indent="-285750" lvl="0" marL="28575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Lịch sử đọc tin tức của người dùng (danh sách các bài báo đã đọc) được đưa vào để tạo biểu diễn người dùng.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NRMS sử dụng </a:t>
            </a:r>
            <a:r>
              <a:rPr b="1" i="0" lang="vi-VN" sz="2000" u="none" cap="none" strike="noStrike">
                <a:solidFill>
                  <a:schemeClr val="dk1"/>
                </a:solidFill>
                <a:latin typeface="Lato"/>
                <a:ea typeface="Lato"/>
                <a:cs typeface="Lato"/>
                <a:sym typeface="Lato"/>
              </a:rPr>
              <a:t>multi-head self-attention </a:t>
            </a:r>
            <a:r>
              <a:rPr b="0" i="0" lang="vi-VN" sz="2000" u="none" cap="none" strike="noStrike">
                <a:solidFill>
                  <a:schemeClr val="dk1"/>
                </a:solidFill>
                <a:latin typeface="Lato"/>
                <a:ea typeface="Lato"/>
                <a:cs typeface="Lato"/>
                <a:sym typeface="Lato"/>
              </a:rPr>
              <a:t>để tổng hợp các biểu diễn bài báo đã đọc.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vi-VN" sz="2000" u="none" cap="none" strike="noStrike">
                <a:solidFill>
                  <a:schemeClr val="dk1"/>
                </a:solidFill>
                <a:latin typeface="Lato"/>
                <a:ea typeface="Lato"/>
                <a:cs typeface="Lato"/>
                <a:sym typeface="Lato"/>
              </a:rPr>
              <a:t>Candidate Scoring:</a:t>
            </a:r>
            <a:endParaRPr b="0" i="0" sz="2000" u="none" cap="none" strike="noStrike">
              <a:solidFill>
                <a:schemeClr val="dk1"/>
              </a:solidFill>
              <a:latin typeface="Lato"/>
              <a:ea typeface="Lato"/>
              <a:cs typeface="Lato"/>
              <a:sym typeface="Lato"/>
            </a:endParaRPr>
          </a:p>
          <a:p>
            <a:pPr indent="-342900" lvl="0" marL="34290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Để xếp hạng các bài báo ứng viên, NRMS tính điểm tương đồng giữa biểu diễn bài báo h</a:t>
            </a:r>
            <a:r>
              <a:rPr b="0" baseline="-25000" i="0" lang="vi-VN" sz="2000" u="none" cap="none" strike="noStrike">
                <a:solidFill>
                  <a:schemeClr val="dk1"/>
                </a:solidFill>
                <a:latin typeface="Lato"/>
                <a:ea typeface="Lato"/>
                <a:cs typeface="Lato"/>
                <a:sym typeface="Lato"/>
              </a:rPr>
              <a:t>n</a:t>
            </a:r>
            <a:r>
              <a:rPr b="0" i="0" lang="vi-VN" sz="2000" u="none" cap="none" strike="noStrike">
                <a:solidFill>
                  <a:schemeClr val="dk1"/>
                </a:solidFill>
                <a:latin typeface="Lato"/>
                <a:ea typeface="Lato"/>
                <a:cs typeface="Lato"/>
                <a:sym typeface="Lato"/>
              </a:rPr>
              <a:t> và biểu diễn người dùng u.</a:t>
            </a:r>
            <a:endParaRPr b="0" i="0" sz="20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Điểm này được tính thông qua </a:t>
            </a:r>
            <a:r>
              <a:rPr b="1" i="0" lang="vi-VN" sz="2000" u="none" cap="none" strike="noStrike">
                <a:solidFill>
                  <a:schemeClr val="dk1"/>
                </a:solidFill>
                <a:latin typeface="Lato"/>
                <a:ea typeface="Lato"/>
                <a:cs typeface="Lato"/>
                <a:sym typeface="Lato"/>
              </a:rPr>
              <a:t>dot product</a:t>
            </a:r>
            <a:endParaRPr b="1"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b="1"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b="1"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rPr b="0" i="0" lang="vi-VN" sz="2000" u="none" cap="none" strike="noStrike">
                <a:solidFill>
                  <a:schemeClr val="dk1"/>
                </a:solidFill>
                <a:latin typeface="Lato"/>
                <a:ea typeface="Lato"/>
                <a:cs typeface="Lato"/>
                <a:sym typeface="Lato"/>
              </a:rPr>
              <a:t>Bài báo có điểm cao hơn sẽ được xếp hạng cao hơn trong danh sách gợi ý.</a:t>
            </a:r>
            <a:endParaRPr b="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Lato"/>
              <a:ea typeface="Lato"/>
              <a:cs typeface="Lato"/>
              <a:sym typeface="Lato"/>
            </a:endParaRPr>
          </a:p>
          <a:p>
            <a:pPr indent="-158750" lvl="0" marL="285750" marR="0" rtl="0" algn="l">
              <a:lnSpc>
                <a:spcPct val="100000"/>
              </a:lnSpc>
              <a:spcBef>
                <a:spcPts val="0"/>
              </a:spcBef>
              <a:spcAft>
                <a:spcPts val="0"/>
              </a:spcAft>
              <a:buClr>
                <a:schemeClr val="dk1"/>
              </a:buClr>
              <a:buSzPts val="2000"/>
              <a:buFont typeface="Arial"/>
              <a:buNone/>
            </a:pPr>
            <a:r>
              <a:t/>
            </a:r>
            <a:endParaRPr b="0" baseline="-2500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Lato"/>
              <a:ea typeface="Lato"/>
              <a:cs typeface="Lato"/>
              <a:sym typeface="Lato"/>
            </a:endParaRPr>
          </a:p>
        </p:txBody>
      </p:sp>
      <p:pic>
        <p:nvPicPr>
          <p:cNvPr descr="A diagram of a new news encoder&#10;&#10;Description automatically generated" id="150" name="Google Shape;150;g3b7941afaaa_5_35"/>
          <p:cNvPicPr preferRelativeResize="0"/>
          <p:nvPr/>
        </p:nvPicPr>
        <p:blipFill rotWithShape="1">
          <a:blip r:embed="rId3">
            <a:alphaModFix/>
          </a:blip>
          <a:srcRect b="0" l="0" r="0" t="0"/>
          <a:stretch/>
        </p:blipFill>
        <p:spPr>
          <a:xfrm>
            <a:off x="8106141" y="1712668"/>
            <a:ext cx="3939688" cy="3256819"/>
          </a:xfrm>
          <a:prstGeom prst="rect">
            <a:avLst/>
          </a:prstGeom>
          <a:noFill/>
          <a:ln>
            <a:noFill/>
          </a:ln>
        </p:spPr>
      </p:pic>
      <p:pic>
        <p:nvPicPr>
          <p:cNvPr id="151" name="Google Shape;151;g3b7941afaaa_5_35"/>
          <p:cNvPicPr preferRelativeResize="0"/>
          <p:nvPr/>
        </p:nvPicPr>
        <p:blipFill>
          <a:blip r:embed="rId4">
            <a:alphaModFix/>
          </a:blip>
          <a:stretch>
            <a:fillRect/>
          </a:stretch>
        </p:blipFill>
        <p:spPr>
          <a:xfrm>
            <a:off x="3292050" y="3769550"/>
            <a:ext cx="1257625" cy="2982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b7941afaaa_5_59"/>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a:t>
            </a:r>
            <a:r>
              <a:rPr lang="vi-VN"/>
              <a:t>1</a:t>
            </a:r>
            <a:r>
              <a:rPr lang="vi-VN">
                <a:latin typeface="Lato"/>
                <a:ea typeface="Lato"/>
                <a:cs typeface="Lato"/>
                <a:sym typeface="Lato"/>
              </a:rPr>
              <a:t>. Mô hình NRMS</a:t>
            </a:r>
            <a:endParaRPr/>
          </a:p>
        </p:txBody>
      </p:sp>
      <p:sp>
        <p:nvSpPr>
          <p:cNvPr id="157" name="Google Shape;157;g3b7941afaaa_5_59"/>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158" name="Google Shape;158;g3b7941afaaa_5_59"/>
          <p:cNvSpPr txBox="1"/>
          <p:nvPr/>
        </p:nvSpPr>
        <p:spPr>
          <a:xfrm>
            <a:off x="191655" y="858432"/>
            <a:ext cx="7785600" cy="332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lang="vi-VN" sz="2000">
                <a:solidFill>
                  <a:schemeClr val="dk1"/>
                </a:solidFill>
                <a:latin typeface="Lato"/>
                <a:ea typeface="Lato"/>
                <a:cs typeface="Lato"/>
                <a:sym typeface="Lato"/>
              </a:rPr>
              <a:t>Negative Log-Likehood</a:t>
            </a:r>
            <a:endParaRPr i="0" sz="2600" u="none" cap="none" strike="noStrike">
              <a:solidFill>
                <a:schemeClr val="dk1"/>
              </a:solidFill>
              <a:latin typeface="Lato"/>
              <a:ea typeface="Lato"/>
              <a:cs typeface="Lato"/>
              <a:sym typeface="Lato"/>
            </a:endParaRPr>
          </a:p>
          <a:p>
            <a:pPr indent="-393700" lvl="0" marL="457200" rtl="0" algn="l">
              <a:lnSpc>
                <a:spcPct val="107916"/>
              </a:lnSpc>
              <a:spcBef>
                <a:spcPts val="120"/>
              </a:spcBef>
              <a:spcAft>
                <a:spcPts val="0"/>
              </a:spcAft>
              <a:buClr>
                <a:schemeClr val="dk1"/>
              </a:buClr>
              <a:buSzPts val="2600"/>
              <a:buChar char="•"/>
            </a:pPr>
            <a:r>
              <a:rPr lang="vi-VN" sz="1900">
                <a:solidFill>
                  <a:schemeClr val="dk1"/>
                </a:solidFill>
                <a:latin typeface="Times New Roman"/>
                <a:ea typeface="Times New Roman"/>
                <a:cs typeface="Times New Roman"/>
                <a:sym typeface="Times New Roman"/>
              </a:rPr>
              <a:t>Kỹ thuật lấy mẫu âm tính được sử dụng cho quá trình huấn luyện. Cụ thể, đối với mỗi bài báo được user click (mẫu dương), chúng ta sẽ lựa chọn ra K bài báo user không click (mẫu âm) với xác suất click:</a:t>
            </a:r>
            <a:endParaRPr b="1" i="0" sz="26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b="1"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b="1"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Lato"/>
              <a:ea typeface="Lato"/>
              <a:cs typeface="Lato"/>
              <a:sym typeface="Lato"/>
            </a:endParaRPr>
          </a:p>
          <a:p>
            <a:pPr indent="-158750" lvl="0" marL="285750" marR="0" rtl="0" algn="l">
              <a:lnSpc>
                <a:spcPct val="100000"/>
              </a:lnSpc>
              <a:spcBef>
                <a:spcPts val="0"/>
              </a:spcBef>
              <a:spcAft>
                <a:spcPts val="0"/>
              </a:spcAft>
              <a:buClr>
                <a:schemeClr val="dk1"/>
              </a:buClr>
              <a:buSzPts val="2000"/>
              <a:buFont typeface="Arial"/>
              <a:buNone/>
            </a:pPr>
            <a:r>
              <a:t/>
            </a:r>
            <a:endParaRPr b="0" baseline="-2500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Lato"/>
              <a:ea typeface="Lato"/>
              <a:cs typeface="Lato"/>
              <a:sym typeface="Lato"/>
            </a:endParaRPr>
          </a:p>
        </p:txBody>
      </p:sp>
      <p:pic>
        <p:nvPicPr>
          <p:cNvPr descr="A diagram of a new news encoder&#10;&#10;Description automatically generated" id="159" name="Google Shape;159;g3b7941afaaa_5_59"/>
          <p:cNvPicPr preferRelativeResize="0"/>
          <p:nvPr/>
        </p:nvPicPr>
        <p:blipFill rotWithShape="1">
          <a:blip r:embed="rId3">
            <a:alphaModFix/>
          </a:blip>
          <a:srcRect b="0" l="0" r="0" t="0"/>
          <a:stretch/>
        </p:blipFill>
        <p:spPr>
          <a:xfrm>
            <a:off x="8106141" y="1712668"/>
            <a:ext cx="3939688" cy="3256819"/>
          </a:xfrm>
          <a:prstGeom prst="rect">
            <a:avLst/>
          </a:prstGeom>
          <a:noFill/>
          <a:ln>
            <a:noFill/>
          </a:ln>
        </p:spPr>
      </p:pic>
      <p:pic>
        <p:nvPicPr>
          <p:cNvPr id="160" name="Google Shape;160;g3b7941afaaa_5_59"/>
          <p:cNvPicPr preferRelativeResize="0"/>
          <p:nvPr/>
        </p:nvPicPr>
        <p:blipFill>
          <a:blip r:embed="rId4">
            <a:alphaModFix/>
          </a:blip>
          <a:stretch>
            <a:fillRect/>
          </a:stretch>
        </p:blipFill>
        <p:spPr>
          <a:xfrm>
            <a:off x="2120750" y="2573175"/>
            <a:ext cx="3192446" cy="688025"/>
          </a:xfrm>
          <a:prstGeom prst="rect">
            <a:avLst/>
          </a:prstGeom>
          <a:noFill/>
          <a:ln>
            <a:noFill/>
          </a:ln>
        </p:spPr>
      </p:pic>
      <p:pic>
        <p:nvPicPr>
          <p:cNvPr id="161" name="Google Shape;161;g3b7941afaaa_5_59"/>
          <p:cNvPicPr preferRelativeResize="0"/>
          <p:nvPr/>
        </p:nvPicPr>
        <p:blipFill>
          <a:blip r:embed="rId5">
            <a:alphaModFix/>
          </a:blip>
          <a:stretch>
            <a:fillRect/>
          </a:stretch>
        </p:blipFill>
        <p:spPr>
          <a:xfrm>
            <a:off x="2531100" y="3566100"/>
            <a:ext cx="2044550" cy="6181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2.2. Mô hình Fastformer</a:t>
            </a:r>
            <a:endParaRPr>
              <a:latin typeface="Lato"/>
              <a:ea typeface="Lato"/>
              <a:cs typeface="Lato"/>
              <a:sym typeface="Lato"/>
            </a:endParaRPr>
          </a:p>
        </p:txBody>
      </p:sp>
      <p:sp>
        <p:nvSpPr>
          <p:cNvPr id="167" name="Google Shape;167;p1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168" name="Google Shape;168;p12"/>
          <p:cNvSpPr txBox="1"/>
          <p:nvPr/>
        </p:nvSpPr>
        <p:spPr>
          <a:xfrm>
            <a:off x="141600" y="1097175"/>
            <a:ext cx="7048200" cy="45252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chemeClr val="dk1"/>
              </a:buClr>
              <a:buSzPts val="1800"/>
              <a:buFont typeface="Lato"/>
              <a:buChar char="●"/>
            </a:pPr>
            <a:r>
              <a:rPr b="1" i="0" lang="vi-VN" sz="1800" u="none" cap="none" strike="noStrike">
                <a:solidFill>
                  <a:schemeClr val="dk1"/>
                </a:solidFill>
                <a:latin typeface="Lato"/>
                <a:ea typeface="Lato"/>
                <a:cs typeface="Lato"/>
                <a:sym typeface="Lato"/>
              </a:rPr>
              <a:t>UniLM (Unified Language Model)</a:t>
            </a:r>
            <a:r>
              <a:rPr b="0" i="0" lang="vi-VN" sz="1800" u="none" cap="none" strike="noStrike">
                <a:solidFill>
                  <a:schemeClr val="dk1"/>
                </a:solidFill>
                <a:latin typeface="Lato"/>
                <a:ea typeface="Lato"/>
                <a:cs typeface="Lato"/>
                <a:sym typeface="Lato"/>
              </a:rPr>
              <a:t> là một mô hình Transformer được thiết kế để hợp nhất ba kiểu mô hình ngôn ngữ: bidirectional LM , left-to-right LM và seq-to-seq LM .</a:t>
            </a:r>
            <a:endParaRPr b="0" i="0" sz="1800" u="none" cap="none" strike="noStrike">
              <a:solidFill>
                <a:schemeClr val="dk1"/>
              </a:solidFill>
              <a:latin typeface="Lato"/>
              <a:ea typeface="Lato"/>
              <a:cs typeface="Lato"/>
              <a:sym typeface="Lato"/>
            </a:endParaRPr>
          </a:p>
          <a:p>
            <a:pPr indent="457200" lvl="0" marL="457200" marR="0" rtl="0" algn="l">
              <a:lnSpc>
                <a:spcPct val="100000"/>
              </a:lnSpc>
              <a:spcBef>
                <a:spcPts val="0"/>
              </a:spcBef>
              <a:spcAft>
                <a:spcPts val="0"/>
              </a:spcAft>
              <a:buClr>
                <a:srgbClr val="000000"/>
              </a:buClr>
              <a:buSzPts val="1800"/>
              <a:buFont typeface="Arial"/>
              <a:buNone/>
            </a:pPr>
            <a:r>
              <a:rPr b="0" i="0" lang="vi-VN" sz="1800" u="none" cap="none" strike="noStrike">
                <a:solidFill>
                  <a:schemeClr val="dk1"/>
                </a:solidFill>
                <a:latin typeface="Lato"/>
                <a:ea typeface="Lato"/>
                <a:cs typeface="Lato"/>
                <a:sym typeface="Lato"/>
              </a:rPr>
              <a:t>-&gt; Sử dụng ở chế độ bidirectional, mô hình được phép nhìn toàn bộ các token trong title để nắm bắt toàn bộ ngữ nghĩa câu.</a:t>
            </a:r>
            <a:endParaRPr b="0" i="0" sz="1800" u="none" cap="none" strike="noStrike">
              <a:solidFill>
                <a:schemeClr val="dk1"/>
              </a:solidFill>
              <a:latin typeface="Lato"/>
              <a:ea typeface="Lato"/>
              <a:cs typeface="Lato"/>
              <a:sym typeface="Lato"/>
            </a:endParaRPr>
          </a:p>
          <a:p>
            <a:pPr indent="45720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a:p>
            <a:pPr indent="-342900" lvl="0" marL="457200" marR="0" rtl="0" algn="l">
              <a:lnSpc>
                <a:spcPct val="100000"/>
              </a:lnSpc>
              <a:spcBef>
                <a:spcPts val="0"/>
              </a:spcBef>
              <a:spcAft>
                <a:spcPts val="0"/>
              </a:spcAft>
              <a:buClr>
                <a:schemeClr val="dk1"/>
              </a:buClr>
              <a:buSzPts val="1800"/>
              <a:buFont typeface="Lato"/>
              <a:buChar char="●"/>
            </a:pPr>
            <a:r>
              <a:rPr b="0" i="0" lang="vi-VN" sz="1800" u="none" cap="none" strike="noStrike">
                <a:solidFill>
                  <a:schemeClr val="dk1"/>
                </a:solidFill>
                <a:latin typeface="Lato"/>
                <a:ea typeface="Lato"/>
                <a:cs typeface="Lato"/>
                <a:sym typeface="Lato"/>
              </a:rPr>
              <a:t>Tạo embedding cho phần text bản tin. Các embedding từ lịch sử click [</a:t>
            </a:r>
            <a:r>
              <a:rPr lang="vi-VN" sz="1800">
                <a:solidFill>
                  <a:schemeClr val="dk1"/>
                </a:solidFill>
                <a:latin typeface="Lato"/>
                <a:ea typeface="Lato"/>
                <a:cs typeface="Lato"/>
                <a:sym typeface="Lato"/>
              </a:rPr>
              <a:t>n</a:t>
            </a:r>
            <a:r>
              <a:rPr baseline="-25000" lang="vi-VN" sz="1800">
                <a:solidFill>
                  <a:schemeClr val="dk1"/>
                </a:solidFill>
                <a:latin typeface="Lato"/>
                <a:ea typeface="Lato"/>
                <a:cs typeface="Lato"/>
                <a:sym typeface="Lato"/>
              </a:rPr>
              <a:t>1</a:t>
            </a:r>
            <a:r>
              <a:rPr b="0" i="0" lang="vi-VN" sz="1800" u="none" cap="none" strike="noStrike">
                <a:solidFill>
                  <a:schemeClr val="dk1"/>
                </a:solidFill>
                <a:latin typeface="Lato"/>
                <a:ea typeface="Lato"/>
                <a:cs typeface="Lato"/>
                <a:sym typeface="Lato"/>
              </a:rPr>
              <a:t>…n</a:t>
            </a:r>
            <a:r>
              <a:rPr b="0" baseline="-25000" i="0" lang="vi-VN" sz="1800" u="none" cap="none" strike="noStrike">
                <a:solidFill>
                  <a:schemeClr val="dk1"/>
                </a:solidFill>
                <a:latin typeface="Lato"/>
                <a:ea typeface="Lato"/>
                <a:cs typeface="Lato"/>
                <a:sym typeface="Lato"/>
              </a:rPr>
              <a:t>L</a:t>
            </a:r>
            <a:r>
              <a:rPr lang="vi-VN" sz="1800">
                <a:solidFill>
                  <a:schemeClr val="dk1"/>
                </a:solidFill>
                <a:latin typeface="Lato"/>
                <a:ea typeface="Lato"/>
                <a:cs typeface="Lato"/>
                <a:sym typeface="Lato"/>
              </a:rPr>
              <a:t>]</a:t>
            </a:r>
            <a:r>
              <a:rPr b="0" i="0" lang="vi-VN" sz="1800" u="none" cap="none" strike="noStrike">
                <a:solidFill>
                  <a:schemeClr val="dk1"/>
                </a:solidFill>
                <a:latin typeface="Lato"/>
                <a:ea typeface="Lato"/>
                <a:cs typeface="Lato"/>
                <a:sym typeface="Lato"/>
              </a:rPr>
              <a:t> chính là “dữ liệu hành vi” duy nhất về người dùng, và đây là đầu vào mà User Encoder (Fastformer) sẽ xử lý.</a:t>
            </a:r>
            <a:endParaRPr b="0" i="0" sz="1800" u="none" cap="none" strike="noStrike">
              <a:solidFill>
                <a:schemeClr val="dk1"/>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a:p>
            <a:pPr indent="-342900" lvl="0" marL="457200" marR="0" rtl="0" algn="l">
              <a:lnSpc>
                <a:spcPct val="100000"/>
              </a:lnSpc>
              <a:spcBef>
                <a:spcPts val="0"/>
              </a:spcBef>
              <a:spcAft>
                <a:spcPts val="0"/>
              </a:spcAft>
              <a:buClr>
                <a:schemeClr val="dk1"/>
              </a:buClr>
              <a:buSzPts val="1800"/>
              <a:buFont typeface="Lato"/>
              <a:buChar char="●"/>
            </a:pPr>
            <a:r>
              <a:rPr b="0" i="0" lang="vi-VN" sz="1800" u="none" cap="none" strike="noStrike">
                <a:solidFill>
                  <a:schemeClr val="dk1"/>
                </a:solidFill>
                <a:latin typeface="Lato"/>
                <a:ea typeface="Lato"/>
                <a:cs typeface="Lato"/>
                <a:sym typeface="Lato"/>
              </a:rPr>
              <a:t>Embedding của candidate news cũng được tạo bằng cùng UniLM, đảm bảo tính nhất quán khi so khớp user–news</a:t>
            </a:r>
            <a:endParaRPr b="0" i="0" sz="1800" u="none" cap="none" strike="noStrike">
              <a:solidFill>
                <a:schemeClr val="dk1"/>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a:p>
            <a:pPr indent="-342900" lvl="0" marL="457200" marR="0" rtl="0" algn="l">
              <a:lnSpc>
                <a:spcPct val="100000"/>
              </a:lnSpc>
              <a:spcBef>
                <a:spcPts val="0"/>
              </a:spcBef>
              <a:spcAft>
                <a:spcPts val="0"/>
              </a:spcAft>
              <a:buClr>
                <a:schemeClr val="dk1"/>
              </a:buClr>
              <a:buSzPts val="1800"/>
              <a:buFont typeface="Lato"/>
              <a:buChar char="●"/>
            </a:pPr>
            <a:r>
              <a:rPr b="0" i="0" lang="vi-VN" sz="1800" u="none" cap="none" strike="noStrike">
                <a:solidFill>
                  <a:schemeClr val="dk1"/>
                </a:solidFill>
                <a:latin typeface="Lato"/>
                <a:ea typeface="Lato"/>
                <a:cs typeface="Lato"/>
                <a:sym typeface="Lato"/>
              </a:rPr>
              <a:t>Hệ thống tính score = user_vec · news_vec_candidate, và dùng softmax để ước lượng xác suất user sẽ click bản tin đó.</a:t>
            </a:r>
            <a:endParaRPr b="0" i="0" sz="1800" u="none" cap="none" strike="noStrike">
              <a:solidFill>
                <a:schemeClr val="dk1"/>
              </a:solidFill>
              <a:latin typeface="Lato"/>
              <a:ea typeface="Lato"/>
              <a:cs typeface="Lato"/>
              <a:sym typeface="Lato"/>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p:txBody>
      </p:sp>
      <p:pic>
        <p:nvPicPr>
          <p:cNvPr id="169" name="Google Shape;169;p12"/>
          <p:cNvPicPr preferRelativeResize="0"/>
          <p:nvPr/>
        </p:nvPicPr>
        <p:blipFill rotWithShape="1">
          <a:blip r:embed="rId3">
            <a:alphaModFix/>
          </a:blip>
          <a:srcRect b="0" l="0" r="0" t="0"/>
          <a:stretch/>
        </p:blipFill>
        <p:spPr>
          <a:xfrm>
            <a:off x="7102900" y="1459249"/>
            <a:ext cx="5151475" cy="37663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1"/>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2.2. Mô hình Fastformer</a:t>
            </a:r>
            <a:endParaRPr>
              <a:latin typeface="Lato"/>
              <a:ea typeface="Lato"/>
              <a:cs typeface="Lato"/>
              <a:sym typeface="Lato"/>
            </a:endParaRPr>
          </a:p>
        </p:txBody>
      </p:sp>
      <p:sp>
        <p:nvSpPr>
          <p:cNvPr id="175" name="Google Shape;175;p1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176" name="Google Shape;176;p11"/>
          <p:cNvSpPr txBox="1"/>
          <p:nvPr/>
        </p:nvSpPr>
        <p:spPr>
          <a:xfrm>
            <a:off x="238547" y="1538370"/>
            <a:ext cx="7246194" cy="378565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000"/>
              <a:buFont typeface="Arial"/>
              <a:buChar char="•"/>
            </a:pPr>
            <a:r>
              <a:rPr b="1" i="0" lang="vi-VN" sz="2000" u="none" cap="none" strike="noStrike">
                <a:solidFill>
                  <a:schemeClr val="dk1"/>
                </a:solidFill>
                <a:latin typeface="Lato"/>
                <a:ea typeface="Lato"/>
                <a:cs typeface="Lato"/>
                <a:sym typeface="Lato"/>
              </a:rPr>
              <a:t>Fastformer</a:t>
            </a:r>
            <a:r>
              <a:rPr b="0" i="0" lang="vi-VN" sz="2000" u="none" cap="none" strike="noStrike">
                <a:solidFill>
                  <a:schemeClr val="dk1"/>
                </a:solidFill>
                <a:latin typeface="Lato"/>
                <a:ea typeface="Lato"/>
                <a:cs typeface="Lato"/>
                <a:sym typeface="Lato"/>
              </a:rPr>
              <a:t> là một mô hình biến thể của Transformer, được thiết kế để tăng tốc độ tính toán và giảm độ phức tạp so với Transformer gốc.</a:t>
            </a:r>
            <a:endParaRPr b="0" i="0" sz="2000" u="none" cap="none" strike="noStrik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Fastformer sử dụng </a:t>
            </a:r>
            <a:r>
              <a:rPr b="1" i="0" lang="vi-VN" sz="2000" u="none" cap="none" strike="noStrike">
                <a:solidFill>
                  <a:schemeClr val="dk1"/>
                </a:solidFill>
                <a:latin typeface="Lato"/>
                <a:ea typeface="Lato"/>
                <a:cs typeface="Lato"/>
                <a:sym typeface="Lato"/>
              </a:rPr>
              <a:t>cơ chế Attention tuyến tính (Linear Attention)</a:t>
            </a:r>
            <a:r>
              <a:rPr b="0" i="0" lang="vi-VN" sz="2000" u="none" cap="none" strike="noStrike">
                <a:solidFill>
                  <a:schemeClr val="dk1"/>
                </a:solidFill>
                <a:latin typeface="Lato"/>
                <a:ea typeface="Lato"/>
                <a:cs typeface="Lato"/>
                <a:sym typeface="Lato"/>
              </a:rPr>
              <a:t>, giúp giảm độ phức tạp từ </a:t>
            </a:r>
            <a:r>
              <a:rPr b="1" i="0" lang="vi-VN" sz="2000" u="none" cap="none" strike="noStrike">
                <a:solidFill>
                  <a:schemeClr val="dk1"/>
                </a:solidFill>
                <a:latin typeface="Lato"/>
                <a:ea typeface="Lato"/>
                <a:cs typeface="Lato"/>
                <a:sym typeface="Lato"/>
              </a:rPr>
              <a:t>O(N²)</a:t>
            </a:r>
            <a:r>
              <a:rPr b="0" i="0" lang="vi-VN" sz="2000" u="none" cap="none" strike="noStrike">
                <a:solidFill>
                  <a:schemeClr val="dk1"/>
                </a:solidFill>
                <a:latin typeface="Lato"/>
                <a:ea typeface="Lato"/>
                <a:cs typeface="Lato"/>
                <a:sym typeface="Lato"/>
              </a:rPr>
              <a:t> xuống </a:t>
            </a:r>
            <a:r>
              <a:rPr b="1" i="0" lang="vi-VN" sz="2000" u="none" cap="none" strike="noStrike">
                <a:solidFill>
                  <a:schemeClr val="dk1"/>
                </a:solidFill>
                <a:latin typeface="Lato"/>
                <a:ea typeface="Lato"/>
                <a:cs typeface="Lato"/>
                <a:sym typeface="Lato"/>
              </a:rPr>
              <a:t>O(N) </a:t>
            </a:r>
            <a:r>
              <a:rPr b="0" i="0" lang="vi-VN" sz="2000" u="none" cap="none" strike="noStrike">
                <a:solidFill>
                  <a:schemeClr val="dk1"/>
                </a:solidFill>
                <a:latin typeface="Lato"/>
                <a:ea typeface="Lato"/>
                <a:cs typeface="Lato"/>
                <a:sym typeface="Lato"/>
              </a:rPr>
              <a:t>mà vẫn giữ được hiệu suất cao trong các bài toán xử lý ngôn ngữ tự nhiên (NLP).</a:t>
            </a:r>
            <a:endParaRPr b="0" i="0" sz="2000" u="none" cap="none" strike="noStrik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Arial"/>
              <a:buChar char="•"/>
            </a:pPr>
            <a:r>
              <a:rPr b="0" i="0" lang="vi-VN" sz="2000" u="none" cap="none" strike="noStrike">
                <a:solidFill>
                  <a:schemeClr val="dk1"/>
                </a:solidFill>
                <a:latin typeface="Lato"/>
                <a:ea typeface="Lato"/>
                <a:cs typeface="Lato"/>
                <a:sym typeface="Lato"/>
              </a:rPr>
              <a:t>Thay vì tính toán attention theo từng cặp phần tử như Transformer truyền thống, Fastformer sử dụng </a:t>
            </a:r>
            <a:r>
              <a:rPr b="1" i="0" lang="vi-VN" sz="2000" u="none" cap="none" strike="noStrike">
                <a:solidFill>
                  <a:schemeClr val="dk1"/>
                </a:solidFill>
                <a:latin typeface="Lato"/>
                <a:ea typeface="Lato"/>
                <a:cs typeface="Lato"/>
                <a:sym typeface="Lato"/>
              </a:rPr>
              <a:t>cơ chế tổng hợp thông tin toàn cục (Global Context)</a:t>
            </a:r>
            <a:r>
              <a:rPr b="0" i="0" lang="vi-VN" sz="2000" u="none" cap="none" strike="noStrike">
                <a:solidFill>
                  <a:schemeClr val="dk1"/>
                </a:solidFill>
                <a:latin typeface="Lato"/>
                <a:ea typeface="Lato"/>
                <a:cs typeface="Lato"/>
                <a:sym typeface="Lato"/>
              </a:rPr>
              <a:t> để biểu diễn ngữ nghĩa toàn bộ chuỗi đầu vào.</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chemeClr val="dk1"/>
              </a:buClr>
              <a:buSzPts val="2000"/>
              <a:buFont typeface="Arial"/>
              <a:buNone/>
            </a:pPr>
            <a:r>
              <a:t/>
            </a:r>
            <a:endParaRPr b="1" i="0" sz="2000" u="none" cap="none" strike="noStrike">
              <a:solidFill>
                <a:schemeClr val="dk1"/>
              </a:solidFill>
              <a:latin typeface="Lato"/>
              <a:ea typeface="Lato"/>
              <a:cs typeface="Lato"/>
              <a:sym typeface="Lato"/>
            </a:endParaRPr>
          </a:p>
        </p:txBody>
      </p:sp>
      <p:pic>
        <p:nvPicPr>
          <p:cNvPr descr="A diagram of a fast transformer&#10;&#10;Description automatically generated" id="177" name="Google Shape;177;p11"/>
          <p:cNvPicPr preferRelativeResize="0"/>
          <p:nvPr/>
        </p:nvPicPr>
        <p:blipFill rotWithShape="1">
          <a:blip r:embed="rId3">
            <a:alphaModFix/>
          </a:blip>
          <a:srcRect b="0" l="0" r="0" t="0"/>
          <a:stretch/>
        </p:blipFill>
        <p:spPr>
          <a:xfrm>
            <a:off x="7488849" y="1223596"/>
            <a:ext cx="3873012" cy="441080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ad1322d63a_0_0"/>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2.2. Mô hình Fastformer</a:t>
            </a:r>
            <a:endParaRPr>
              <a:latin typeface="Lato"/>
              <a:ea typeface="Lato"/>
              <a:cs typeface="Lato"/>
              <a:sym typeface="Lato"/>
            </a:endParaRPr>
          </a:p>
        </p:txBody>
      </p:sp>
      <p:sp>
        <p:nvSpPr>
          <p:cNvPr id="183" name="Google Shape;183;g3ad1322d63a_0_0"/>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184" name="Google Shape;184;g3ad1322d63a_0_0"/>
          <p:cNvSpPr txBox="1"/>
          <p:nvPr/>
        </p:nvSpPr>
        <p:spPr>
          <a:xfrm>
            <a:off x="156485" y="1104617"/>
            <a:ext cx="7199400" cy="3971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vi-VN" sz="1800" u="none" cap="none" strike="noStrike">
                <a:solidFill>
                  <a:schemeClr val="dk1"/>
                </a:solidFill>
                <a:latin typeface="Lato"/>
                <a:ea typeface="Lato"/>
                <a:cs typeface="Lato"/>
                <a:sym typeface="Lato"/>
              </a:rPr>
              <a:t>Embedding Layer: </a:t>
            </a:r>
            <a:r>
              <a:rPr b="0" i="0" lang="vi-VN" sz="1800" u="none" cap="none" strike="noStrike">
                <a:solidFill>
                  <a:schemeClr val="dk1"/>
                </a:solidFill>
                <a:latin typeface="Lato"/>
                <a:ea typeface="Lato"/>
                <a:cs typeface="Lato"/>
                <a:sym typeface="Lato"/>
              </a:rPr>
              <a:t>Chuyển các từ hoặc token thành vector, vector này chứa thông tin ngữ nghĩa ban đầu của từ/token.</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rPr b="0" i="0" lang="vi-VN" sz="1800" u="none" cap="none" strike="noStrike">
                <a:solidFill>
                  <a:schemeClr val="dk1"/>
                </a:solidFill>
                <a:latin typeface="Lato"/>
                <a:ea typeface="Lato"/>
                <a:cs typeface="Lato"/>
                <a:sym typeface="Lato"/>
              </a:rPr>
              <a:t>Trong đó N là độ dài chuỗi và d là chiều dài không gian ẩn, mỗi vector ei, biểu diễn cho 1 phần tử trong chuỗi</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rPr b="0" i="0" lang="vi-VN" sz="1800" u="none" cap="none" strike="noStrike">
                <a:solidFill>
                  <a:schemeClr val="dk1"/>
                </a:solidFill>
                <a:latin typeface="Lato"/>
                <a:ea typeface="Lato"/>
                <a:cs typeface="Lato"/>
                <a:sym typeface="Lato"/>
              </a:rPr>
              <a:t>Tương tự Transformer, Fastformer áp dụng ba phép biến đổi tuyến tính độc lập để thu được các ma trận query, key và value:</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rPr b="0" i="0" lang="vi-VN" sz="1800" u="none" cap="none" strike="noStrike">
                <a:solidFill>
                  <a:schemeClr val="dk1"/>
                </a:solidFill>
                <a:latin typeface="Lato"/>
                <a:ea typeface="Lato"/>
                <a:cs typeface="Lato"/>
                <a:sym typeface="Lato"/>
              </a:rPr>
              <a:t>-&gt; ánh xạ embedding đầu vào sang không gian biểu diễn khác nhau phục vụ cho việc học quan hệ ngữ cảnh</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p:txBody>
      </p:sp>
      <p:pic>
        <p:nvPicPr>
          <p:cNvPr descr="A diagram of a fast transformer&#10;&#10;Description automatically generated" id="185" name="Google Shape;185;g3ad1322d63a_0_0"/>
          <p:cNvPicPr preferRelativeResize="0"/>
          <p:nvPr/>
        </p:nvPicPr>
        <p:blipFill rotWithShape="1">
          <a:blip r:embed="rId3">
            <a:alphaModFix/>
          </a:blip>
          <a:srcRect b="0" l="0" r="0" t="0"/>
          <a:stretch/>
        </p:blipFill>
        <p:spPr>
          <a:xfrm>
            <a:off x="7804472" y="1204040"/>
            <a:ext cx="4048858" cy="4633547"/>
          </a:xfrm>
          <a:prstGeom prst="rect">
            <a:avLst/>
          </a:prstGeom>
          <a:noFill/>
          <a:ln>
            <a:noFill/>
          </a:ln>
        </p:spPr>
      </p:pic>
      <p:pic>
        <p:nvPicPr>
          <p:cNvPr id="186" name="Google Shape;186;g3ad1322d63a_0_0"/>
          <p:cNvPicPr preferRelativeResize="0"/>
          <p:nvPr/>
        </p:nvPicPr>
        <p:blipFill rotWithShape="1">
          <a:blip r:embed="rId4">
            <a:alphaModFix/>
          </a:blip>
          <a:srcRect b="0" l="0" r="0" t="0"/>
          <a:stretch/>
        </p:blipFill>
        <p:spPr>
          <a:xfrm>
            <a:off x="156475" y="1716767"/>
            <a:ext cx="2647950" cy="447675"/>
          </a:xfrm>
          <a:prstGeom prst="rect">
            <a:avLst/>
          </a:prstGeom>
          <a:noFill/>
          <a:ln>
            <a:noFill/>
          </a:ln>
        </p:spPr>
      </p:pic>
      <p:pic>
        <p:nvPicPr>
          <p:cNvPr id="187" name="Google Shape;187;g3ad1322d63a_0_0"/>
          <p:cNvPicPr preferRelativeResize="0"/>
          <p:nvPr/>
        </p:nvPicPr>
        <p:blipFill rotWithShape="1">
          <a:blip r:embed="rId5">
            <a:alphaModFix/>
          </a:blip>
          <a:srcRect b="0" l="0" r="0" t="0"/>
          <a:stretch/>
        </p:blipFill>
        <p:spPr>
          <a:xfrm>
            <a:off x="2307550" y="3609992"/>
            <a:ext cx="3505200" cy="4000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b77ded3c23_5_2"/>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2.2. Mô hình Fastformer</a:t>
            </a:r>
            <a:endParaRPr>
              <a:latin typeface="Lato"/>
              <a:ea typeface="Lato"/>
              <a:cs typeface="Lato"/>
              <a:sym typeface="Lato"/>
            </a:endParaRPr>
          </a:p>
        </p:txBody>
      </p:sp>
      <p:sp>
        <p:nvSpPr>
          <p:cNvPr id="193" name="Google Shape;193;g3b77ded3c23_5_2"/>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194" name="Google Shape;194;g3b77ded3c23_5_2"/>
          <p:cNvSpPr txBox="1"/>
          <p:nvPr/>
        </p:nvSpPr>
        <p:spPr>
          <a:xfrm>
            <a:off x="156485" y="1104617"/>
            <a:ext cx="7199400" cy="4802400"/>
          </a:xfrm>
          <a:prstGeom prst="rect">
            <a:avLst/>
          </a:prstGeom>
          <a:noFill/>
          <a:ln>
            <a:noFill/>
          </a:ln>
        </p:spPr>
        <p:txBody>
          <a:bodyPr anchorCtr="0" anchor="t" bIns="45700" lIns="91425" spcFirstLastPara="1" rIns="91425" wrap="square" tIns="45700">
            <a:spAutoFit/>
          </a:bodyPr>
          <a:lstStyle/>
          <a:p>
            <a:pPr indent="0" lvl="0" marL="114300" marR="0" rtl="0" algn="l">
              <a:lnSpc>
                <a:spcPct val="100000"/>
              </a:lnSpc>
              <a:spcBef>
                <a:spcPts val="0"/>
              </a:spcBef>
              <a:spcAft>
                <a:spcPts val="0"/>
              </a:spcAft>
              <a:buClr>
                <a:schemeClr val="dk1"/>
              </a:buClr>
              <a:buSzPts val="1800"/>
              <a:buFont typeface="Arial"/>
              <a:buNone/>
            </a:pPr>
            <a:r>
              <a:rPr b="1" i="0" lang="vi-VN" sz="1800" u="none" cap="none" strike="noStrike">
                <a:solidFill>
                  <a:schemeClr val="dk1"/>
                </a:solidFill>
                <a:latin typeface="Lato"/>
                <a:ea typeface="Lato"/>
                <a:cs typeface="Lato"/>
                <a:sym typeface="Lato"/>
              </a:rPr>
              <a:t>Global Query: </a:t>
            </a:r>
            <a:r>
              <a:rPr b="0" i="0" lang="vi-VN" sz="1800" u="none" cap="none" strike="noStrike">
                <a:solidFill>
                  <a:schemeClr val="dk1"/>
                </a:solidFill>
                <a:latin typeface="Lato"/>
                <a:ea typeface="Lato"/>
                <a:cs typeface="Lato"/>
                <a:sym typeface="Lato"/>
              </a:rPr>
              <a:t>Khác với Transformer truyền thống, mỗi query tương tác với toàn bộ key thông qua phép nhân ma trận, Fastfoermer thay thế bằng cách tóm tắt toàn bộ ma trận query thành 1 vector duy nhất</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rPr b="0" i="0" lang="vi-VN" sz="1800" u="none" cap="none" strike="noStrike">
                <a:solidFill>
                  <a:schemeClr val="dk1"/>
                </a:solidFill>
                <a:latin typeface="Lato"/>
                <a:ea typeface="Lato"/>
                <a:cs typeface="Lato"/>
                <a:sym typeface="Lato"/>
              </a:rPr>
              <a:t>Sử dụng additive attention để tính trọng số cho từng query</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rPr b="0" i="0" lang="vi-VN" sz="1800" u="none" cap="none" strike="noStrike">
                <a:solidFill>
                  <a:schemeClr val="dk1"/>
                </a:solidFill>
                <a:latin typeface="Lato"/>
                <a:ea typeface="Lato"/>
                <a:cs typeface="Lato"/>
                <a:sym typeface="Lato"/>
              </a:rPr>
              <a:t>Global Query được tính bằng: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rPr b="0" i="0" lang="vi-VN" sz="1800" u="none" cap="none" strike="noStrike">
                <a:solidFill>
                  <a:schemeClr val="dk1"/>
                </a:solidFill>
                <a:latin typeface="Lato"/>
                <a:ea typeface="Lato"/>
                <a:cs typeface="Lato"/>
                <a:sym typeface="Lato"/>
              </a:rPr>
              <a:t>Sau khi thu được global query, Fastformer cần mô hình hóa mối quan hệ giữa vector này và từng key trong chuỗi. Thay vì sử dụng phép cộng hoặc nối vector, Fastformer áp dụng phép nhân từng phần tử để tăng khả năng mô hình hóa phi tuyến:</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p:txBody>
      </p:sp>
      <p:pic>
        <p:nvPicPr>
          <p:cNvPr descr="A diagram of a fast transformer&#10;&#10;Description automatically generated" id="195" name="Google Shape;195;g3b77ded3c23_5_2"/>
          <p:cNvPicPr preferRelativeResize="0"/>
          <p:nvPr/>
        </p:nvPicPr>
        <p:blipFill rotWithShape="1">
          <a:blip r:embed="rId3">
            <a:alphaModFix/>
          </a:blip>
          <a:srcRect b="0" l="0" r="0" t="0"/>
          <a:stretch/>
        </p:blipFill>
        <p:spPr>
          <a:xfrm>
            <a:off x="7804472" y="1204040"/>
            <a:ext cx="4048858" cy="4633547"/>
          </a:xfrm>
          <a:prstGeom prst="rect">
            <a:avLst/>
          </a:prstGeom>
          <a:noFill/>
          <a:ln>
            <a:noFill/>
          </a:ln>
        </p:spPr>
      </p:pic>
      <p:pic>
        <p:nvPicPr>
          <p:cNvPr id="196" name="Google Shape;196;g3b77ded3c23_5_2"/>
          <p:cNvPicPr preferRelativeResize="0"/>
          <p:nvPr/>
        </p:nvPicPr>
        <p:blipFill rotWithShape="1">
          <a:blip r:embed="rId4">
            <a:alphaModFix/>
          </a:blip>
          <a:srcRect b="0" l="0" r="0" t="0"/>
          <a:stretch/>
        </p:blipFill>
        <p:spPr>
          <a:xfrm>
            <a:off x="2394150" y="2594192"/>
            <a:ext cx="2638425" cy="742950"/>
          </a:xfrm>
          <a:prstGeom prst="rect">
            <a:avLst/>
          </a:prstGeom>
          <a:noFill/>
          <a:ln>
            <a:noFill/>
          </a:ln>
        </p:spPr>
      </p:pic>
      <p:pic>
        <p:nvPicPr>
          <p:cNvPr id="197" name="Google Shape;197;g3b77ded3c23_5_2"/>
          <p:cNvPicPr preferRelativeResize="0"/>
          <p:nvPr/>
        </p:nvPicPr>
        <p:blipFill rotWithShape="1">
          <a:blip r:embed="rId5">
            <a:alphaModFix/>
          </a:blip>
          <a:srcRect b="0" l="12319" r="0" t="13770"/>
          <a:stretch/>
        </p:blipFill>
        <p:spPr>
          <a:xfrm>
            <a:off x="3666975" y="3337150"/>
            <a:ext cx="1252725" cy="698125"/>
          </a:xfrm>
          <a:prstGeom prst="rect">
            <a:avLst/>
          </a:prstGeom>
          <a:noFill/>
          <a:ln>
            <a:noFill/>
          </a:ln>
        </p:spPr>
      </p:pic>
      <p:pic>
        <p:nvPicPr>
          <p:cNvPr id="198" name="Google Shape;198;g3b77ded3c23_5_2"/>
          <p:cNvPicPr preferRelativeResize="0"/>
          <p:nvPr/>
        </p:nvPicPr>
        <p:blipFill rotWithShape="1">
          <a:blip r:embed="rId6">
            <a:alphaModFix/>
          </a:blip>
          <a:srcRect b="0" l="0" r="0" t="0"/>
          <a:stretch/>
        </p:blipFill>
        <p:spPr>
          <a:xfrm>
            <a:off x="3075188" y="5382592"/>
            <a:ext cx="1276350" cy="2667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b7941afaaa_4_0"/>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2.2. Mô hình Fastformer</a:t>
            </a:r>
            <a:endParaRPr>
              <a:latin typeface="Lato"/>
              <a:ea typeface="Lato"/>
              <a:cs typeface="Lato"/>
              <a:sym typeface="Lato"/>
            </a:endParaRPr>
          </a:p>
        </p:txBody>
      </p:sp>
      <p:sp>
        <p:nvSpPr>
          <p:cNvPr id="204" name="Google Shape;204;g3b7941afaaa_4_0"/>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205" name="Google Shape;205;g3b7941afaaa_4_0"/>
          <p:cNvSpPr txBox="1"/>
          <p:nvPr/>
        </p:nvSpPr>
        <p:spPr>
          <a:xfrm>
            <a:off x="156485" y="1104617"/>
            <a:ext cx="7199400" cy="3417000"/>
          </a:xfrm>
          <a:prstGeom prst="rect">
            <a:avLst/>
          </a:prstGeom>
          <a:noFill/>
          <a:ln>
            <a:noFill/>
          </a:ln>
        </p:spPr>
        <p:txBody>
          <a:bodyPr anchorCtr="0" anchor="t" bIns="45700" lIns="91425" spcFirstLastPara="1" rIns="91425" wrap="square" tIns="45700">
            <a:spAutoFit/>
          </a:bodyPr>
          <a:lstStyle/>
          <a:p>
            <a:pPr indent="0" lvl="0" marL="114300" marR="0" rtl="0" algn="l">
              <a:lnSpc>
                <a:spcPct val="100000"/>
              </a:lnSpc>
              <a:spcBef>
                <a:spcPts val="0"/>
              </a:spcBef>
              <a:spcAft>
                <a:spcPts val="0"/>
              </a:spcAft>
              <a:buClr>
                <a:schemeClr val="dk1"/>
              </a:buClr>
              <a:buSzPts val="1800"/>
              <a:buFont typeface="Arial"/>
              <a:buNone/>
            </a:pPr>
            <a:r>
              <a:rPr b="1" i="0" lang="vi-VN" sz="1800" u="none" cap="none" strike="noStrike">
                <a:solidFill>
                  <a:schemeClr val="dk1"/>
                </a:solidFill>
                <a:latin typeface="Lato"/>
                <a:ea typeface="Lato"/>
                <a:cs typeface="Lato"/>
                <a:sym typeface="Lato"/>
              </a:rPr>
              <a:t>Global </a:t>
            </a:r>
            <a:r>
              <a:rPr b="1" lang="vi-VN" sz="1800">
                <a:solidFill>
                  <a:schemeClr val="dk1"/>
                </a:solidFill>
                <a:latin typeface="Lato"/>
                <a:ea typeface="Lato"/>
                <a:cs typeface="Lato"/>
                <a:sym typeface="Lato"/>
              </a:rPr>
              <a:t>Key</a:t>
            </a:r>
            <a:r>
              <a:rPr b="1" i="0" lang="vi-VN" sz="1800" u="none" cap="none" strike="noStrike">
                <a:solidFill>
                  <a:schemeClr val="dk1"/>
                </a:solidFill>
                <a:latin typeface="Lato"/>
                <a:ea typeface="Lato"/>
                <a:cs typeface="Lato"/>
                <a:sym typeface="Lato"/>
              </a:rPr>
              <a:t>: </a:t>
            </a:r>
            <a:r>
              <a:rPr lang="vi-VN" sz="1800">
                <a:solidFill>
                  <a:schemeClr val="dk1"/>
                </a:solidFill>
                <a:latin typeface="Lato"/>
                <a:ea typeface="Lato"/>
                <a:cs typeface="Lato"/>
                <a:sym typeface="Lato"/>
              </a:rPr>
              <a:t>Tương tự bước tạo global query, Fastformer tiếp tục sử dụng additive attention để tóm tắt các vector p</a:t>
            </a:r>
            <a:r>
              <a:rPr baseline="-25000" lang="vi-VN" sz="1800">
                <a:solidFill>
                  <a:schemeClr val="dk1"/>
                </a:solidFill>
                <a:latin typeface="Lato"/>
                <a:ea typeface="Lato"/>
                <a:cs typeface="Lato"/>
                <a:sym typeface="Lato"/>
              </a:rPr>
              <a:t>i </a:t>
            </a:r>
            <a:r>
              <a:rPr lang="vi-VN" sz="1800">
                <a:solidFill>
                  <a:schemeClr val="dk1"/>
                </a:solidFill>
                <a:latin typeface="Lato"/>
                <a:ea typeface="Lato"/>
                <a:cs typeface="Lato"/>
                <a:sym typeface="Lato"/>
              </a:rPr>
              <a:t> thành một vector global key: </a:t>
            </a:r>
            <a:endParaRPr sz="1800">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rPr lang="vi-VN" sz="1800">
                <a:solidFill>
                  <a:schemeClr val="dk1"/>
                </a:solidFill>
                <a:latin typeface="Lato"/>
                <a:ea typeface="Lato"/>
                <a:cs typeface="Lato"/>
                <a:sym typeface="Lato"/>
              </a:rPr>
              <a:t>​</a:t>
            </a:r>
            <a:endParaRPr sz="1800">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rPr lang="vi-VN" sz="1800">
                <a:solidFill>
                  <a:schemeClr val="dk1"/>
                </a:solidFill>
                <a:latin typeface="Lato"/>
                <a:ea typeface="Lato"/>
                <a:cs typeface="Lato"/>
                <a:sym typeface="Lato"/>
              </a:rPr>
              <a:t>Vector global key 𝑘 đại diện cho thông tin nội dung tổng thể của chuỗi, đã được điều chỉnh theo ngữ cảnh query.</a:t>
            </a:r>
            <a:endParaRPr sz="1800">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800"/>
              <a:buFont typeface="Arial"/>
              <a:buNone/>
            </a:pPr>
            <a:r>
              <a:t/>
            </a:r>
            <a:endParaRPr sz="1800">
              <a:solidFill>
                <a:schemeClr val="dk1"/>
              </a:solidFill>
              <a:latin typeface="Lato"/>
              <a:ea typeface="Lato"/>
              <a:cs typeface="Lato"/>
              <a:sym typeface="Lato"/>
            </a:endParaRPr>
          </a:p>
        </p:txBody>
      </p:sp>
      <p:pic>
        <p:nvPicPr>
          <p:cNvPr descr="A diagram of a fast transformer&#10;&#10;Description automatically generated" id="206" name="Google Shape;206;g3b7941afaaa_4_0"/>
          <p:cNvPicPr preferRelativeResize="0"/>
          <p:nvPr/>
        </p:nvPicPr>
        <p:blipFill rotWithShape="1">
          <a:blip r:embed="rId3">
            <a:alphaModFix/>
          </a:blip>
          <a:srcRect b="0" l="0" r="0" t="0"/>
          <a:stretch/>
        </p:blipFill>
        <p:spPr>
          <a:xfrm>
            <a:off x="7804472" y="1204040"/>
            <a:ext cx="4048858" cy="4633547"/>
          </a:xfrm>
          <a:prstGeom prst="rect">
            <a:avLst/>
          </a:prstGeom>
          <a:noFill/>
          <a:ln>
            <a:noFill/>
          </a:ln>
        </p:spPr>
      </p:pic>
      <p:pic>
        <p:nvPicPr>
          <p:cNvPr id="207" name="Google Shape;207;g3b7941afaaa_4_0"/>
          <p:cNvPicPr preferRelativeResize="0"/>
          <p:nvPr/>
        </p:nvPicPr>
        <p:blipFill rotWithShape="1">
          <a:blip r:embed="rId4">
            <a:alphaModFix/>
          </a:blip>
          <a:srcRect b="0" l="0" r="0" t="0"/>
          <a:stretch/>
        </p:blipFill>
        <p:spPr>
          <a:xfrm>
            <a:off x="2394150" y="2594192"/>
            <a:ext cx="2638425" cy="742950"/>
          </a:xfrm>
          <a:prstGeom prst="rect">
            <a:avLst/>
          </a:prstGeom>
          <a:noFill/>
          <a:ln>
            <a:noFill/>
          </a:ln>
        </p:spPr>
      </p:pic>
      <p:pic>
        <p:nvPicPr>
          <p:cNvPr id="208" name="Google Shape;208;g3b7941afaaa_4_0"/>
          <p:cNvPicPr preferRelativeResize="0"/>
          <p:nvPr/>
        </p:nvPicPr>
        <p:blipFill>
          <a:blip r:embed="rId5">
            <a:alphaModFix/>
          </a:blip>
          <a:stretch>
            <a:fillRect/>
          </a:stretch>
        </p:blipFill>
        <p:spPr>
          <a:xfrm>
            <a:off x="2394138" y="1822663"/>
            <a:ext cx="2581275" cy="1514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b7941afaaa_4_13"/>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2.2. Mô hình Fastformer</a:t>
            </a:r>
            <a:endParaRPr>
              <a:latin typeface="Lato"/>
              <a:ea typeface="Lato"/>
              <a:cs typeface="Lato"/>
              <a:sym typeface="Lato"/>
            </a:endParaRPr>
          </a:p>
        </p:txBody>
      </p:sp>
      <p:sp>
        <p:nvSpPr>
          <p:cNvPr id="214" name="Google Shape;214;g3b7941afaaa_4_13"/>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215" name="Google Shape;215;g3b7941afaaa_4_13"/>
          <p:cNvSpPr txBox="1"/>
          <p:nvPr/>
        </p:nvSpPr>
        <p:spPr>
          <a:xfrm>
            <a:off x="156485" y="1104617"/>
            <a:ext cx="7199400" cy="424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lang="vi-VN" sz="1800">
                <a:solidFill>
                  <a:schemeClr val="dk1"/>
                </a:solidFill>
                <a:latin typeface="Lato"/>
                <a:ea typeface="Lato"/>
                <a:cs typeface="Lato"/>
                <a:sym typeface="Lato"/>
              </a:rPr>
              <a:t>Ở bước cuối cùng của cơ chế attention, Fastformer kết hợp global key với từng value thông qua phép nhân từng phần tử:</a:t>
            </a:r>
            <a:endParaRPr sz="1800">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sz="1800">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rPr lang="vi-VN" sz="1800">
                <a:solidFill>
                  <a:schemeClr val="dk1"/>
                </a:solidFill>
                <a:latin typeface="Lato"/>
                <a:ea typeface="Lato"/>
                <a:cs typeface="Lato"/>
                <a:sym typeface="Lato"/>
              </a:rPr>
              <a:t>Cách kết hợp này cho phép mô hình lọc thông tin value dựa trên ngữ cảnh toàn cục đã học được.</a:t>
            </a:r>
            <a:endParaRPr sz="1800">
              <a:solidFill>
                <a:schemeClr val="dk1"/>
              </a:solidFill>
              <a:latin typeface="Lato"/>
              <a:ea typeface="Lato"/>
              <a:cs typeface="Lato"/>
              <a:sym typeface="Lato"/>
            </a:endParaRPr>
          </a:p>
          <a:p>
            <a:pPr indent="0" lvl="0" marL="114300" marR="0" rtl="0" algn="l">
              <a:lnSpc>
                <a:spcPct val="100000"/>
              </a:lnSpc>
              <a:spcBef>
                <a:spcPts val="0"/>
              </a:spcBef>
              <a:spcAft>
                <a:spcPts val="0"/>
              </a:spcAft>
              <a:buClr>
                <a:schemeClr val="dk1"/>
              </a:buClr>
              <a:buSzPts val="1800"/>
              <a:buFont typeface="Arial"/>
              <a:buNone/>
            </a:pPr>
            <a:r>
              <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800"/>
              <a:buFont typeface="Arial"/>
              <a:buNone/>
            </a:pPr>
            <a:r>
              <a:rPr lang="vi-VN" sz="1800">
                <a:solidFill>
                  <a:schemeClr val="dk1"/>
                </a:solidFill>
                <a:latin typeface="Lato"/>
                <a:ea typeface="Lato"/>
                <a:cs typeface="Lato"/>
                <a:sym typeface="Lato"/>
              </a:rPr>
              <a:t>  Sau đó, mỗi vector 𝑢𝑖 được đưa qua một lớp tuyến tính để thu được biểu diễn đầu ra:</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800"/>
              <a:buFont typeface="Arial"/>
              <a:buNone/>
            </a:pPr>
            <a:r>
              <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800"/>
              <a:buFont typeface="Arial"/>
              <a:buNone/>
            </a:pPr>
            <a:r>
              <a:rPr lang="vi-VN" sz="1800">
                <a:solidFill>
                  <a:schemeClr val="dk1"/>
                </a:solidFill>
                <a:latin typeface="Lato"/>
                <a:ea typeface="Lato"/>
                <a:cs typeface="Lato"/>
                <a:sym typeface="Lato"/>
              </a:rPr>
              <a:t>và toàn bộ đầu ra được biểu diễn dưới dạng </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800"/>
              <a:buFont typeface="Arial"/>
              <a:buNone/>
            </a:pPr>
            <a:r>
              <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800"/>
              <a:buFont typeface="Arial"/>
              <a:buNone/>
            </a:pPr>
            <a:r>
              <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800"/>
              <a:buFont typeface="Arial"/>
              <a:buNone/>
            </a:pPr>
            <a:r>
              <a:rPr lang="vi-VN" sz="1800">
                <a:solidFill>
                  <a:schemeClr val="dk1"/>
                </a:solidFill>
                <a:latin typeface="Lato"/>
                <a:ea typeface="Lato"/>
                <a:cs typeface="Lato"/>
                <a:sym typeface="Lato"/>
              </a:rPr>
              <a:t>Cuối cùng, Fastformer áp dụng kết nối Residual với ma trận query ban đầu để ổn định quá trình huấn luyện </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1800"/>
              <a:buFont typeface="Arial"/>
              <a:buNone/>
            </a:pPr>
            <a:r>
              <a:t/>
            </a:r>
            <a:endParaRPr sz="1800">
              <a:solidFill>
                <a:schemeClr val="dk1"/>
              </a:solidFill>
              <a:latin typeface="Lato"/>
              <a:ea typeface="Lato"/>
              <a:cs typeface="Lato"/>
              <a:sym typeface="Lato"/>
            </a:endParaRPr>
          </a:p>
        </p:txBody>
      </p:sp>
      <p:pic>
        <p:nvPicPr>
          <p:cNvPr descr="A diagram of a fast transformer&#10;&#10;Description automatically generated" id="216" name="Google Shape;216;g3b7941afaaa_4_13"/>
          <p:cNvPicPr preferRelativeResize="0"/>
          <p:nvPr/>
        </p:nvPicPr>
        <p:blipFill rotWithShape="1">
          <a:blip r:embed="rId3">
            <a:alphaModFix/>
          </a:blip>
          <a:srcRect b="0" l="0" r="0" t="0"/>
          <a:stretch/>
        </p:blipFill>
        <p:spPr>
          <a:xfrm>
            <a:off x="7804472" y="1204040"/>
            <a:ext cx="4048858" cy="4633547"/>
          </a:xfrm>
          <a:prstGeom prst="rect">
            <a:avLst/>
          </a:prstGeom>
          <a:noFill/>
          <a:ln>
            <a:noFill/>
          </a:ln>
        </p:spPr>
      </p:pic>
      <p:pic>
        <p:nvPicPr>
          <p:cNvPr id="217" name="Google Shape;217;g3b7941afaaa_4_13"/>
          <p:cNvPicPr preferRelativeResize="0"/>
          <p:nvPr/>
        </p:nvPicPr>
        <p:blipFill>
          <a:blip r:embed="rId4">
            <a:alphaModFix/>
          </a:blip>
          <a:stretch>
            <a:fillRect/>
          </a:stretch>
        </p:blipFill>
        <p:spPr>
          <a:xfrm>
            <a:off x="3194188" y="1692717"/>
            <a:ext cx="1123950" cy="304800"/>
          </a:xfrm>
          <a:prstGeom prst="rect">
            <a:avLst/>
          </a:prstGeom>
          <a:noFill/>
          <a:ln>
            <a:noFill/>
          </a:ln>
        </p:spPr>
      </p:pic>
      <p:pic>
        <p:nvPicPr>
          <p:cNvPr id="218" name="Google Shape;218;g3b7941afaaa_4_13"/>
          <p:cNvPicPr preferRelativeResize="0"/>
          <p:nvPr/>
        </p:nvPicPr>
        <p:blipFill>
          <a:blip r:embed="rId5">
            <a:alphaModFix/>
          </a:blip>
          <a:stretch>
            <a:fillRect/>
          </a:stretch>
        </p:blipFill>
        <p:spPr>
          <a:xfrm>
            <a:off x="3277050" y="3141492"/>
            <a:ext cx="1095375" cy="304800"/>
          </a:xfrm>
          <a:prstGeom prst="rect">
            <a:avLst/>
          </a:prstGeom>
          <a:noFill/>
          <a:ln>
            <a:noFill/>
          </a:ln>
        </p:spPr>
      </p:pic>
      <p:pic>
        <p:nvPicPr>
          <p:cNvPr id="219" name="Google Shape;219;g3b7941afaaa_4_13"/>
          <p:cNvPicPr preferRelativeResize="0"/>
          <p:nvPr/>
        </p:nvPicPr>
        <p:blipFill>
          <a:blip r:embed="rId6">
            <a:alphaModFix/>
          </a:blip>
          <a:stretch>
            <a:fillRect/>
          </a:stretch>
        </p:blipFill>
        <p:spPr>
          <a:xfrm>
            <a:off x="2998275" y="3918967"/>
            <a:ext cx="1819275" cy="3429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b7941afaaa_6_0"/>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2.2. Mô hình Fastformer</a:t>
            </a:r>
            <a:endParaRPr>
              <a:latin typeface="Lato"/>
              <a:ea typeface="Lato"/>
              <a:cs typeface="Lato"/>
              <a:sym typeface="Lato"/>
            </a:endParaRPr>
          </a:p>
        </p:txBody>
      </p:sp>
      <p:sp>
        <p:nvSpPr>
          <p:cNvPr id="225" name="Google Shape;225;g3b7941afaaa_6_0"/>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226" name="Google Shape;226;g3b7941afaaa_6_0"/>
          <p:cNvSpPr txBox="1"/>
          <p:nvPr/>
        </p:nvSpPr>
        <p:spPr>
          <a:xfrm>
            <a:off x="156485" y="1104617"/>
            <a:ext cx="7199400" cy="36942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chemeClr val="dk1"/>
              </a:buClr>
              <a:buSzPts val="1800"/>
              <a:buFont typeface="Lato"/>
              <a:buChar char="-"/>
            </a:pPr>
            <a:r>
              <a:rPr lang="vi-VN" sz="1800">
                <a:solidFill>
                  <a:schemeClr val="dk1"/>
                </a:solidFill>
                <a:latin typeface="Lato"/>
                <a:ea typeface="Lato"/>
                <a:cs typeface="Lato"/>
                <a:sym typeface="Lato"/>
              </a:rPr>
              <a:t>Attention Pooling: Thực hiện tạo user_vec để biểu diễn sở thích người dùng:</a:t>
            </a:r>
            <a:endParaRPr sz="1800">
              <a:solidFill>
                <a:schemeClr val="dk1"/>
              </a:solidFill>
              <a:latin typeface="Lato"/>
              <a:ea typeface="Lato"/>
              <a:cs typeface="Lato"/>
              <a:sym typeface="Lato"/>
            </a:endParaRPr>
          </a:p>
          <a:p>
            <a:pPr indent="0" lvl="0" marL="457200" marR="0" rtl="0" algn="l">
              <a:lnSpc>
                <a:spcPct val="100000"/>
              </a:lnSpc>
              <a:spcBef>
                <a:spcPts val="0"/>
              </a:spcBef>
              <a:spcAft>
                <a:spcPts val="0"/>
              </a:spcAft>
              <a:buNone/>
            </a:pPr>
            <a:r>
              <a:t/>
            </a:r>
            <a:endParaRPr sz="1800">
              <a:solidFill>
                <a:schemeClr val="dk1"/>
              </a:solidFill>
              <a:latin typeface="Lato"/>
              <a:ea typeface="Lato"/>
              <a:cs typeface="Lato"/>
              <a:sym typeface="Lato"/>
            </a:endParaRPr>
          </a:p>
          <a:p>
            <a:pPr indent="0" lvl="0" marL="457200" marR="0" rtl="0" algn="l">
              <a:lnSpc>
                <a:spcPct val="100000"/>
              </a:lnSpc>
              <a:spcBef>
                <a:spcPts val="0"/>
              </a:spcBef>
              <a:spcAft>
                <a:spcPts val="0"/>
              </a:spcAft>
              <a:buNone/>
            </a:pPr>
            <a:r>
              <a:t/>
            </a:r>
            <a:endParaRPr sz="1800">
              <a:solidFill>
                <a:schemeClr val="dk1"/>
              </a:solidFill>
              <a:latin typeface="Lato"/>
              <a:ea typeface="Lato"/>
              <a:cs typeface="Lato"/>
              <a:sym typeface="Lato"/>
            </a:endParaRPr>
          </a:p>
          <a:p>
            <a:pPr indent="-342900" lvl="0" marL="457200" marR="0" rtl="0" algn="l">
              <a:lnSpc>
                <a:spcPct val="100000"/>
              </a:lnSpc>
              <a:spcBef>
                <a:spcPts val="0"/>
              </a:spcBef>
              <a:spcAft>
                <a:spcPts val="0"/>
              </a:spcAft>
              <a:buClr>
                <a:schemeClr val="dk1"/>
              </a:buClr>
              <a:buSzPts val="1800"/>
              <a:buFont typeface="Lato"/>
              <a:buChar char="-"/>
            </a:pPr>
            <a:r>
              <a:rPr lang="vi-VN" sz="1800">
                <a:solidFill>
                  <a:schemeClr val="dk1"/>
                </a:solidFill>
                <a:latin typeface="Lato"/>
                <a:ea typeface="Lato"/>
                <a:cs typeface="Lato"/>
                <a:sym typeface="Lato"/>
              </a:rPr>
              <a:t>Kết quả Score giữa user_vec và news_vec được đưa qua hàm softmax để tính xác suất user click vào new </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18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1800">
              <a:solidFill>
                <a:schemeClr val="dk1"/>
              </a:solidFill>
              <a:latin typeface="Lato"/>
              <a:ea typeface="Lato"/>
              <a:cs typeface="Lato"/>
              <a:sym typeface="Lato"/>
            </a:endParaRPr>
          </a:p>
          <a:p>
            <a:pPr indent="-342900" lvl="0" marL="457200" marR="0" rtl="0" algn="l">
              <a:lnSpc>
                <a:spcPct val="100000"/>
              </a:lnSpc>
              <a:spcBef>
                <a:spcPts val="0"/>
              </a:spcBef>
              <a:spcAft>
                <a:spcPts val="0"/>
              </a:spcAft>
              <a:buClr>
                <a:schemeClr val="dk1"/>
              </a:buClr>
              <a:buSzPts val="1800"/>
              <a:buFont typeface="Lato"/>
              <a:buChar char="-"/>
            </a:pPr>
            <a:r>
              <a:rPr lang="vi-VN" sz="1800">
                <a:solidFill>
                  <a:schemeClr val="dk1"/>
                </a:solidFill>
                <a:latin typeface="Lato"/>
                <a:ea typeface="Lato"/>
                <a:cs typeface="Lato"/>
                <a:sym typeface="Lato"/>
              </a:rPr>
              <a:t>Sử dụng Loss (Cross-Entropy) :</a:t>
            </a:r>
            <a:endParaRPr sz="1800">
              <a:solidFill>
                <a:schemeClr val="dk1"/>
              </a:solidFill>
              <a:latin typeface="Lato"/>
              <a:ea typeface="Lato"/>
              <a:cs typeface="Lato"/>
              <a:sym typeface="Lato"/>
            </a:endParaRPr>
          </a:p>
          <a:p>
            <a:pPr indent="0" lvl="0" marL="457200" marR="0" rtl="0" algn="l">
              <a:lnSpc>
                <a:spcPct val="100000"/>
              </a:lnSpc>
              <a:spcBef>
                <a:spcPts val="0"/>
              </a:spcBef>
              <a:spcAft>
                <a:spcPts val="0"/>
              </a:spcAft>
              <a:buNone/>
            </a:pPr>
            <a:r>
              <a:t/>
            </a:r>
            <a:endParaRPr sz="1800">
              <a:solidFill>
                <a:schemeClr val="dk1"/>
              </a:solidFill>
              <a:latin typeface="Lato"/>
              <a:ea typeface="Lato"/>
              <a:cs typeface="Lato"/>
              <a:sym typeface="Lato"/>
            </a:endParaRPr>
          </a:p>
          <a:p>
            <a:pPr indent="0" lvl="0" marL="457200" marR="0" rtl="0" algn="l">
              <a:lnSpc>
                <a:spcPct val="100000"/>
              </a:lnSpc>
              <a:spcBef>
                <a:spcPts val="0"/>
              </a:spcBef>
              <a:spcAft>
                <a:spcPts val="0"/>
              </a:spcAft>
              <a:buNone/>
            </a:pPr>
            <a:r>
              <a:t/>
            </a:r>
            <a:endParaRPr sz="1800">
              <a:solidFill>
                <a:schemeClr val="dk1"/>
              </a:solidFill>
              <a:latin typeface="Lato"/>
              <a:ea typeface="Lato"/>
              <a:cs typeface="Lato"/>
              <a:sym typeface="Lato"/>
            </a:endParaRPr>
          </a:p>
        </p:txBody>
      </p:sp>
      <p:pic>
        <p:nvPicPr>
          <p:cNvPr descr="A diagram of a fast transformer&#10;&#10;Description automatically generated" id="227" name="Google Shape;227;g3b7941afaaa_6_0"/>
          <p:cNvPicPr preferRelativeResize="0"/>
          <p:nvPr/>
        </p:nvPicPr>
        <p:blipFill rotWithShape="1">
          <a:blip r:embed="rId3">
            <a:alphaModFix/>
          </a:blip>
          <a:srcRect b="0" l="0" r="0" t="0"/>
          <a:stretch/>
        </p:blipFill>
        <p:spPr>
          <a:xfrm>
            <a:off x="7804472" y="1204040"/>
            <a:ext cx="4048858" cy="4633547"/>
          </a:xfrm>
          <a:prstGeom prst="rect">
            <a:avLst/>
          </a:prstGeom>
          <a:noFill/>
          <a:ln>
            <a:noFill/>
          </a:ln>
        </p:spPr>
      </p:pic>
      <p:pic>
        <p:nvPicPr>
          <p:cNvPr id="228" name="Google Shape;228;g3b7941afaaa_6_0"/>
          <p:cNvPicPr preferRelativeResize="0"/>
          <p:nvPr/>
        </p:nvPicPr>
        <p:blipFill>
          <a:blip r:embed="rId4">
            <a:alphaModFix/>
          </a:blip>
          <a:stretch>
            <a:fillRect/>
          </a:stretch>
        </p:blipFill>
        <p:spPr>
          <a:xfrm>
            <a:off x="2648675" y="1493042"/>
            <a:ext cx="2009775" cy="714375"/>
          </a:xfrm>
          <a:prstGeom prst="rect">
            <a:avLst/>
          </a:prstGeom>
          <a:noFill/>
          <a:ln>
            <a:noFill/>
          </a:ln>
        </p:spPr>
      </p:pic>
      <p:pic>
        <p:nvPicPr>
          <p:cNvPr id="229" name="Google Shape;229;g3b7941afaaa_6_0"/>
          <p:cNvPicPr preferRelativeResize="0"/>
          <p:nvPr/>
        </p:nvPicPr>
        <p:blipFill>
          <a:blip r:embed="rId5">
            <a:alphaModFix/>
          </a:blip>
          <a:stretch>
            <a:fillRect/>
          </a:stretch>
        </p:blipFill>
        <p:spPr>
          <a:xfrm>
            <a:off x="2584600" y="2909042"/>
            <a:ext cx="2343150" cy="771525"/>
          </a:xfrm>
          <a:prstGeom prst="rect">
            <a:avLst/>
          </a:prstGeom>
          <a:noFill/>
          <a:ln>
            <a:noFill/>
          </a:ln>
        </p:spPr>
      </p:pic>
      <p:pic>
        <p:nvPicPr>
          <p:cNvPr id="230" name="Google Shape;230;g3b7941afaaa_6_0"/>
          <p:cNvPicPr preferRelativeResize="0"/>
          <p:nvPr/>
        </p:nvPicPr>
        <p:blipFill>
          <a:blip r:embed="rId6">
            <a:alphaModFix/>
          </a:blip>
          <a:stretch>
            <a:fillRect/>
          </a:stretch>
        </p:blipFill>
        <p:spPr>
          <a:xfrm>
            <a:off x="2813200" y="4227667"/>
            <a:ext cx="1885950" cy="800100"/>
          </a:xfrm>
          <a:prstGeom prst="rect">
            <a:avLst/>
          </a:prstGeom>
          <a:noFill/>
          <a:ln>
            <a:noFill/>
          </a:ln>
        </p:spPr>
      </p:pic>
      <p:pic>
        <p:nvPicPr>
          <p:cNvPr id="231" name="Google Shape;231;g3b7941afaaa_6_0"/>
          <p:cNvPicPr preferRelativeResize="0"/>
          <p:nvPr/>
        </p:nvPicPr>
        <p:blipFill>
          <a:blip r:embed="rId7">
            <a:alphaModFix/>
          </a:blip>
          <a:stretch>
            <a:fillRect/>
          </a:stretch>
        </p:blipFill>
        <p:spPr>
          <a:xfrm>
            <a:off x="4893575" y="1526379"/>
            <a:ext cx="1933575" cy="6477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a:t>
            </a:r>
            <a:r>
              <a:rPr lang="vi-VN"/>
              <a:t>3</a:t>
            </a:r>
            <a:r>
              <a:rPr lang="vi-VN">
                <a:latin typeface="Lato"/>
                <a:ea typeface="Lato"/>
                <a:cs typeface="Lato"/>
                <a:sym typeface="Lato"/>
              </a:rPr>
              <a:t>. M</a:t>
            </a:r>
            <a:r>
              <a:rPr lang="vi-VN"/>
              <a:t>ô hình MINER</a:t>
            </a:r>
            <a:endParaRPr/>
          </a:p>
        </p:txBody>
      </p:sp>
      <p:sp>
        <p:nvSpPr>
          <p:cNvPr id="237" name="Google Shape;237;p1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pic>
        <p:nvPicPr>
          <p:cNvPr id="238" name="Google Shape;238;p13"/>
          <p:cNvPicPr preferRelativeResize="0"/>
          <p:nvPr/>
        </p:nvPicPr>
        <p:blipFill rotWithShape="1">
          <a:blip r:embed="rId3">
            <a:alphaModFix/>
          </a:blip>
          <a:srcRect b="0" l="0" r="0" t="0"/>
          <a:stretch/>
        </p:blipFill>
        <p:spPr>
          <a:xfrm>
            <a:off x="2329038" y="2123800"/>
            <a:ext cx="7852924" cy="3241049"/>
          </a:xfrm>
          <a:prstGeom prst="rect">
            <a:avLst/>
          </a:prstGeom>
          <a:noFill/>
          <a:ln>
            <a:noFill/>
          </a:ln>
        </p:spPr>
      </p:pic>
      <p:sp>
        <p:nvSpPr>
          <p:cNvPr id="239" name="Google Shape;239;p13"/>
          <p:cNvSpPr txBox="1"/>
          <p:nvPr/>
        </p:nvSpPr>
        <p:spPr>
          <a:xfrm>
            <a:off x="3225150" y="5364850"/>
            <a:ext cx="5741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vi-VN" sz="1400" u="none" cap="none" strike="noStrike">
                <a:solidFill>
                  <a:srgbClr val="000000"/>
                </a:solidFill>
                <a:latin typeface="Arial"/>
                <a:ea typeface="Arial"/>
                <a:cs typeface="Arial"/>
                <a:sym typeface="Arial"/>
              </a:rPr>
              <a:t>Mô hình tổng quan của MINER [</a:t>
            </a:r>
            <a:r>
              <a:rPr lang="vi-VN"/>
              <a:t>*</a:t>
            </a:r>
            <a:r>
              <a:rPr b="0" i="0" lang="vi-V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40" name="Google Shape;240;p13"/>
          <p:cNvSpPr txBox="1"/>
          <p:nvPr/>
        </p:nvSpPr>
        <p:spPr>
          <a:xfrm>
            <a:off x="882500" y="5806360"/>
            <a:ext cx="10746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vi-VN" sz="1100" u="none" cap="none" strike="noStrike">
                <a:solidFill>
                  <a:srgbClr val="222222"/>
                </a:solidFill>
                <a:highlight>
                  <a:srgbClr val="FFFFFF"/>
                </a:highlight>
                <a:latin typeface="Arial"/>
                <a:ea typeface="Arial"/>
                <a:cs typeface="Arial"/>
                <a:sym typeface="Arial"/>
              </a:rPr>
              <a:t>[*</a:t>
            </a:r>
            <a:r>
              <a:rPr lang="vi-VN" sz="1100">
                <a:solidFill>
                  <a:srgbClr val="222222"/>
                </a:solidFill>
                <a:highlight>
                  <a:srgbClr val="FFFFFF"/>
                </a:highlight>
              </a:rPr>
              <a:t>]</a:t>
            </a:r>
            <a:r>
              <a:rPr b="0" i="0" lang="vi-VN" sz="1100" u="none" cap="none" strike="noStrike">
                <a:solidFill>
                  <a:srgbClr val="222222"/>
                </a:solidFill>
                <a:highlight>
                  <a:srgbClr val="FFFFFF"/>
                </a:highlight>
                <a:latin typeface="Arial"/>
                <a:ea typeface="Arial"/>
                <a:cs typeface="Arial"/>
                <a:sym typeface="Arial"/>
              </a:rPr>
              <a:t> Li, Jian, et al. "MINER: Multi-interest matching network for news recommendation." </a:t>
            </a:r>
            <a:r>
              <a:rPr b="0" i="1" lang="vi-VN" sz="1100" u="none" cap="none" strike="noStrike">
                <a:solidFill>
                  <a:srgbClr val="222222"/>
                </a:solidFill>
                <a:highlight>
                  <a:srgbClr val="FFFFFF"/>
                </a:highlight>
                <a:latin typeface="Arial"/>
                <a:ea typeface="Arial"/>
                <a:cs typeface="Arial"/>
                <a:sym typeface="Arial"/>
              </a:rPr>
              <a:t>Findings of the association for computational linguistics: ACL 2022</a:t>
            </a:r>
            <a:r>
              <a:rPr b="0" i="0" lang="vi-VN" sz="1100" u="none" cap="none" strike="noStrike">
                <a:solidFill>
                  <a:srgbClr val="222222"/>
                </a:solidFill>
                <a:highlight>
                  <a:srgbClr val="FFFFFF"/>
                </a:highlight>
                <a:latin typeface="Arial"/>
                <a:ea typeface="Arial"/>
                <a:cs typeface="Arial"/>
                <a:sym typeface="Arial"/>
              </a:rPr>
              <a:t>. 2022.</a:t>
            </a:r>
            <a:endParaRPr b="0" i="0" sz="1100" u="none" cap="none" strike="noStrike">
              <a:solidFill>
                <a:srgbClr val="000000"/>
              </a:solidFill>
              <a:latin typeface="Arial"/>
              <a:ea typeface="Arial"/>
              <a:cs typeface="Arial"/>
              <a:sym typeface="Arial"/>
            </a:endParaRPr>
          </a:p>
        </p:txBody>
      </p:sp>
      <p:sp>
        <p:nvSpPr>
          <p:cNvPr id="241" name="Google Shape;241;p13"/>
          <p:cNvSpPr txBox="1"/>
          <p:nvPr/>
        </p:nvSpPr>
        <p:spPr>
          <a:xfrm>
            <a:off x="338700" y="942097"/>
            <a:ext cx="115146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vi-VN" sz="2000" u="none" cap="none" strike="noStrike">
                <a:solidFill>
                  <a:schemeClr val="dk1"/>
                </a:solidFill>
                <a:latin typeface="Lato"/>
                <a:ea typeface="Lato"/>
                <a:cs typeface="Lato"/>
                <a:sym typeface="Lato"/>
              </a:rPr>
              <a:t>MINER được tạo ra để khắc phục hạn chế lớn của các hệ thống đề xuất tin tức trước đây: đó là chỉ sử dụng một vector nhúng duy nhất để đại diện cho sở thích của người dùng bằng cách học nhiều vector đại diện cho sở thích của người dùng</a:t>
            </a:r>
            <a:endParaRPr b="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Lato"/>
              <a:ea typeface="Lato"/>
              <a:cs typeface="Lato"/>
              <a:sym typeface="Lato"/>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a3efca13b7_0_29"/>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a:t>
            </a:r>
            <a:r>
              <a:rPr lang="vi-VN"/>
              <a:t>3</a:t>
            </a:r>
            <a:r>
              <a:rPr lang="vi-VN">
                <a:latin typeface="Lato"/>
                <a:ea typeface="Lato"/>
                <a:cs typeface="Lato"/>
                <a:sym typeface="Lato"/>
              </a:rPr>
              <a:t>. M</a:t>
            </a:r>
            <a:r>
              <a:rPr lang="vi-VN"/>
              <a:t>ô hình MINER</a:t>
            </a:r>
            <a:endParaRPr/>
          </a:p>
        </p:txBody>
      </p:sp>
      <p:sp>
        <p:nvSpPr>
          <p:cNvPr id="247" name="Google Shape;247;g3a3efca13b7_0_29"/>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248" name="Google Shape;248;g3a3efca13b7_0_29"/>
          <p:cNvSpPr txBox="1"/>
          <p:nvPr/>
        </p:nvSpPr>
        <p:spPr>
          <a:xfrm>
            <a:off x="284229" y="920090"/>
            <a:ext cx="11513400" cy="5017800"/>
          </a:xfrm>
          <a:prstGeom prst="rect">
            <a:avLst/>
          </a:prstGeom>
          <a:noFill/>
          <a:ln>
            <a:noFill/>
          </a:ln>
        </p:spPr>
        <p:txBody>
          <a:bodyPr anchorCtr="0" anchor="t" bIns="45700" lIns="91425" spcFirstLastPara="1" rIns="91425" wrap="square" tIns="45700">
            <a:spAutoFit/>
          </a:bodyPr>
          <a:lstStyle/>
          <a:p>
            <a:pPr indent="-215900" lvl="0" marL="342900" marR="0" rtl="0" algn="l">
              <a:lnSpc>
                <a:spcPct val="100000"/>
              </a:lnSpc>
              <a:spcBef>
                <a:spcPts val="0"/>
              </a:spcBef>
              <a:spcAft>
                <a:spcPts val="0"/>
              </a:spcAft>
              <a:buClr>
                <a:schemeClr val="dk1"/>
              </a:buClr>
              <a:buSzPts val="2000"/>
              <a:buFont typeface="Arial"/>
              <a:buNone/>
            </a:pPr>
            <a:r>
              <a:rPr b="1" i="0" lang="vi-VN" sz="2000" u="none" cap="none" strike="noStrike">
                <a:solidFill>
                  <a:schemeClr val="dk1"/>
                </a:solidFill>
                <a:latin typeface="Lato"/>
                <a:ea typeface="Lato"/>
                <a:cs typeface="Lato"/>
                <a:sym typeface="Lato"/>
              </a:rPr>
              <a:t>Các thành phần chính của mô hình:</a:t>
            </a:r>
            <a:endParaRPr b="1" i="0" sz="2000" u="none" cap="none" strike="noStrike">
              <a:solidFill>
                <a:schemeClr val="dk1"/>
              </a:solidFill>
              <a:latin typeface="Lato"/>
              <a:ea typeface="Lato"/>
              <a:cs typeface="Lato"/>
              <a:sym typeface="Lato"/>
            </a:endParaRPr>
          </a:p>
          <a:p>
            <a:pPr indent="-355600" lvl="0" marL="457200" marR="0" rtl="0" algn="l">
              <a:lnSpc>
                <a:spcPct val="100000"/>
              </a:lnSpc>
              <a:spcBef>
                <a:spcPts val="0"/>
              </a:spcBef>
              <a:spcAft>
                <a:spcPts val="0"/>
              </a:spcAft>
              <a:buClr>
                <a:schemeClr val="dk1"/>
              </a:buClr>
              <a:buSzPts val="2000"/>
              <a:buFont typeface="Lato"/>
              <a:buAutoNum type="arabicPeriod"/>
            </a:pPr>
            <a:r>
              <a:rPr b="1" i="0" lang="vi-VN" sz="2000" u="none" cap="none" strike="noStrike">
                <a:solidFill>
                  <a:schemeClr val="dk1"/>
                </a:solidFill>
                <a:latin typeface="Lato"/>
                <a:ea typeface="Lato"/>
                <a:cs typeface="Lato"/>
                <a:sym typeface="Lato"/>
              </a:rPr>
              <a:t>BERT embedding (News encoder)</a:t>
            </a:r>
            <a:r>
              <a:rPr b="0" i="0" lang="vi-VN" sz="2000" u="none" cap="none" strike="noStrike">
                <a:solidFill>
                  <a:schemeClr val="dk1"/>
                </a:solidFill>
                <a:latin typeface="Lato"/>
                <a:ea typeface="Lato"/>
                <a:cs typeface="Lato"/>
                <a:sym typeface="Lato"/>
              </a:rPr>
              <a:t>: Dùng mô hình pretrain encoder làm bộ mã hóa tin tức để nắm bắt ngữ nghĩa sâu.</a:t>
            </a:r>
            <a:endParaRPr sz="2000">
              <a:solidFill>
                <a:schemeClr val="dk1"/>
              </a:solidFill>
              <a:latin typeface="Lato"/>
              <a:ea typeface="Lato"/>
              <a:cs typeface="Lato"/>
              <a:sym typeface="Lato"/>
            </a:endParaRPr>
          </a:p>
          <a:p>
            <a:pPr indent="-355600" lvl="0" marL="457200" marR="0" rtl="0" algn="l">
              <a:lnSpc>
                <a:spcPct val="100000"/>
              </a:lnSpc>
              <a:spcBef>
                <a:spcPts val="0"/>
              </a:spcBef>
              <a:spcAft>
                <a:spcPts val="0"/>
              </a:spcAft>
              <a:buClr>
                <a:schemeClr val="dk1"/>
              </a:buClr>
              <a:buSzPts val="2000"/>
              <a:buFont typeface="Lato"/>
              <a:buAutoNum type="arabicPeriod"/>
            </a:pPr>
            <a:r>
              <a:rPr b="1" i="0" lang="vi-VN" sz="2000" u="none" cap="none" strike="noStrike">
                <a:solidFill>
                  <a:schemeClr val="dk1"/>
                </a:solidFill>
                <a:latin typeface="Lato"/>
                <a:ea typeface="Lato"/>
                <a:cs typeface="Lato"/>
                <a:sym typeface="Lato"/>
              </a:rPr>
              <a:t>Multi-Interest User Modeling</a:t>
            </a:r>
            <a:r>
              <a:rPr b="0" i="0" lang="vi-VN" sz="2000" u="none" cap="none" strike="noStrike">
                <a:solidFill>
                  <a:schemeClr val="dk1"/>
                </a:solidFill>
                <a:latin typeface="Lato"/>
                <a:ea typeface="Lato"/>
                <a:cs typeface="Lato"/>
                <a:sym typeface="Lato"/>
              </a:rPr>
              <a:t>: Áp dụng Poly Attention Scheme với K mã ngữ cảnh học được để trích xuất K vector sở thích cho mỗi người dùng.</a:t>
            </a:r>
            <a:endParaRPr sz="2000">
              <a:solidFill>
                <a:schemeClr val="dk1"/>
              </a:solidFill>
              <a:latin typeface="Lato"/>
              <a:ea typeface="Lato"/>
              <a:cs typeface="Lato"/>
              <a:sym typeface="Lato"/>
            </a:endParaRPr>
          </a:p>
          <a:p>
            <a:pPr indent="0" lvl="0" marL="45720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45720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355600" lvl="0" marL="457200" marR="0" rtl="0" algn="l">
              <a:lnSpc>
                <a:spcPct val="100000"/>
              </a:lnSpc>
              <a:spcBef>
                <a:spcPts val="0"/>
              </a:spcBef>
              <a:spcAft>
                <a:spcPts val="0"/>
              </a:spcAft>
              <a:buClr>
                <a:schemeClr val="dk1"/>
              </a:buClr>
              <a:buSzPts val="2000"/>
              <a:buFont typeface="Lato"/>
              <a:buAutoNum type="arabicPeriod"/>
            </a:pPr>
            <a:r>
              <a:rPr b="1" i="0" lang="vi-VN" sz="2000" u="none" cap="none" strike="noStrike">
                <a:solidFill>
                  <a:schemeClr val="dk1"/>
                </a:solidFill>
                <a:latin typeface="Lato"/>
                <a:ea typeface="Lato"/>
                <a:cs typeface="Lato"/>
                <a:sym typeface="Lato"/>
              </a:rPr>
              <a:t>Category-aware Attention Weighting</a:t>
            </a:r>
            <a:r>
              <a:rPr b="0" i="0" lang="vi-VN" sz="2000" u="none" cap="none" strike="noStrike">
                <a:solidFill>
                  <a:schemeClr val="dk1"/>
                </a:solidFill>
                <a:latin typeface="Lato"/>
                <a:ea typeface="Lato"/>
                <a:cs typeface="Lato"/>
                <a:sym typeface="Lato"/>
              </a:rPr>
              <a:t>: Kết hợp thông tin thể loại tin tức để điều chỉnh trọng số của các tin tức lịch sử.</a:t>
            </a:r>
            <a:endParaRPr b="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rPr lang="vi-VN" sz="2000">
                <a:solidFill>
                  <a:schemeClr val="dk1"/>
                </a:solidFill>
                <a:latin typeface="Lato"/>
                <a:ea typeface="Lato"/>
                <a:cs typeface="Lato"/>
                <a:sym typeface="Lato"/>
              </a:rPr>
              <a:t>Trong đó b</a:t>
            </a:r>
            <a:r>
              <a:rPr baseline="-25000" lang="vi-VN" sz="1900">
                <a:solidFill>
                  <a:schemeClr val="dk1"/>
                </a:solidFill>
                <a:latin typeface="Lato"/>
                <a:ea typeface="Lato"/>
                <a:cs typeface="Lato"/>
                <a:sym typeface="Lato"/>
              </a:rPr>
              <a:t>j</a:t>
            </a:r>
            <a:r>
              <a:rPr lang="vi-VN" sz="2000">
                <a:solidFill>
                  <a:schemeClr val="dk1"/>
                </a:solidFill>
                <a:latin typeface="Lato"/>
                <a:ea typeface="Lato"/>
                <a:cs typeface="Lato"/>
                <a:sym typeface="Lato"/>
              </a:rPr>
              <a:t>, b</a:t>
            </a:r>
            <a:r>
              <a:rPr baseline="-25000" lang="vi-VN" sz="2000">
                <a:solidFill>
                  <a:schemeClr val="dk1"/>
                </a:solidFill>
                <a:latin typeface="Lato"/>
                <a:ea typeface="Lato"/>
                <a:cs typeface="Lato"/>
                <a:sym typeface="Lato"/>
              </a:rPr>
              <a:t>c</a:t>
            </a:r>
            <a:r>
              <a:rPr lang="vi-VN" sz="2000">
                <a:solidFill>
                  <a:schemeClr val="dk1"/>
                </a:solidFill>
                <a:latin typeface="Lato"/>
                <a:ea typeface="Lato"/>
                <a:cs typeface="Lato"/>
                <a:sym typeface="Lato"/>
              </a:rPr>
              <a:t> là categorical embedding của bài báo thứ j và bài báo candidate và λ là một tham số học được của mô hình </a:t>
            </a:r>
            <a:endParaRPr sz="2000">
              <a:solidFill>
                <a:schemeClr val="dk1"/>
              </a:solidFill>
              <a:latin typeface="Lato"/>
              <a:ea typeface="Lato"/>
              <a:cs typeface="Lato"/>
              <a:sym typeface="Lato"/>
            </a:endParaRPr>
          </a:p>
        </p:txBody>
      </p:sp>
      <p:pic>
        <p:nvPicPr>
          <p:cNvPr id="249" name="Google Shape;249;g3a3efca13b7_0_29"/>
          <p:cNvPicPr preferRelativeResize="0"/>
          <p:nvPr/>
        </p:nvPicPr>
        <p:blipFill rotWithShape="1">
          <a:blip r:embed="rId3">
            <a:alphaModFix/>
          </a:blip>
          <a:srcRect b="0" l="0" r="0" t="0"/>
          <a:stretch/>
        </p:blipFill>
        <p:spPr>
          <a:xfrm>
            <a:off x="4013213" y="2563953"/>
            <a:ext cx="4175076" cy="760600"/>
          </a:xfrm>
          <a:prstGeom prst="rect">
            <a:avLst/>
          </a:prstGeom>
          <a:noFill/>
          <a:ln>
            <a:noFill/>
          </a:ln>
        </p:spPr>
      </p:pic>
      <p:pic>
        <p:nvPicPr>
          <p:cNvPr id="250" name="Google Shape;250;g3a3efca13b7_0_29"/>
          <p:cNvPicPr preferRelativeResize="0"/>
          <p:nvPr/>
        </p:nvPicPr>
        <p:blipFill>
          <a:blip r:embed="rId4">
            <a:alphaModFix/>
          </a:blip>
          <a:stretch>
            <a:fillRect/>
          </a:stretch>
        </p:blipFill>
        <p:spPr>
          <a:xfrm>
            <a:off x="4249025" y="4707800"/>
            <a:ext cx="3693959" cy="365100"/>
          </a:xfrm>
          <a:prstGeom prst="rect">
            <a:avLst/>
          </a:prstGeom>
          <a:noFill/>
          <a:ln>
            <a:noFill/>
          </a:ln>
        </p:spPr>
      </p:pic>
      <p:pic>
        <p:nvPicPr>
          <p:cNvPr id="251" name="Google Shape;251;g3a3efca13b7_0_29"/>
          <p:cNvPicPr preferRelativeResize="0"/>
          <p:nvPr/>
        </p:nvPicPr>
        <p:blipFill>
          <a:blip r:embed="rId5">
            <a:alphaModFix/>
          </a:blip>
          <a:stretch>
            <a:fillRect/>
          </a:stretch>
        </p:blipFill>
        <p:spPr>
          <a:xfrm>
            <a:off x="4724403" y="3364422"/>
            <a:ext cx="2743200" cy="4229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b7941afaaa_0_14"/>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2.</a:t>
            </a:r>
            <a:r>
              <a:rPr lang="vi-VN"/>
              <a:t>3</a:t>
            </a:r>
            <a:r>
              <a:rPr lang="vi-VN">
                <a:latin typeface="Lato"/>
                <a:ea typeface="Lato"/>
                <a:cs typeface="Lato"/>
                <a:sym typeface="Lato"/>
              </a:rPr>
              <a:t>. M</a:t>
            </a:r>
            <a:r>
              <a:rPr lang="vi-VN"/>
              <a:t>ô hình MINER</a:t>
            </a:r>
            <a:endParaRPr/>
          </a:p>
        </p:txBody>
      </p:sp>
      <p:sp>
        <p:nvSpPr>
          <p:cNvPr id="257" name="Google Shape;257;g3b7941afaaa_0_14"/>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258" name="Google Shape;258;g3b7941afaaa_0_14"/>
          <p:cNvSpPr txBox="1"/>
          <p:nvPr/>
        </p:nvSpPr>
        <p:spPr>
          <a:xfrm>
            <a:off x="284229" y="920090"/>
            <a:ext cx="11513400" cy="4094400"/>
          </a:xfrm>
          <a:prstGeom prst="rect">
            <a:avLst/>
          </a:prstGeom>
          <a:noFill/>
          <a:ln>
            <a:noFill/>
          </a:ln>
        </p:spPr>
        <p:txBody>
          <a:bodyPr anchorCtr="0" anchor="t" bIns="45700" lIns="91425" spcFirstLastPara="1" rIns="91425" wrap="square" tIns="45700">
            <a:spAutoFit/>
          </a:bodyPr>
          <a:lstStyle/>
          <a:p>
            <a:pPr indent="-215900" lvl="0" marL="342900" marR="0" rtl="0" algn="l">
              <a:lnSpc>
                <a:spcPct val="100000"/>
              </a:lnSpc>
              <a:spcBef>
                <a:spcPts val="0"/>
              </a:spcBef>
              <a:spcAft>
                <a:spcPts val="0"/>
              </a:spcAft>
              <a:buClr>
                <a:schemeClr val="dk1"/>
              </a:buClr>
              <a:buSzPts val="2000"/>
              <a:buFont typeface="Arial"/>
              <a:buNone/>
            </a:pPr>
            <a:r>
              <a:rPr b="1" i="0" lang="vi-VN" sz="2000" u="none" cap="none" strike="noStrike">
                <a:solidFill>
                  <a:schemeClr val="dk1"/>
                </a:solidFill>
                <a:latin typeface="Lato"/>
                <a:ea typeface="Lato"/>
                <a:cs typeface="Lato"/>
                <a:sym typeface="Lato"/>
              </a:rPr>
              <a:t>Các thành phần chính của mô hình:</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rPr lang="vi-VN" sz="2000">
                <a:solidFill>
                  <a:schemeClr val="dk1"/>
                </a:solidFill>
                <a:latin typeface="Lato"/>
                <a:ea typeface="Lato"/>
                <a:cs typeface="Lato"/>
                <a:sym typeface="Lato"/>
              </a:rPr>
              <a:t>4.</a:t>
            </a:r>
            <a:r>
              <a:rPr b="1" lang="vi-VN" sz="2000">
                <a:solidFill>
                  <a:schemeClr val="dk1"/>
                </a:solidFill>
                <a:latin typeface="Lato"/>
                <a:ea typeface="Lato"/>
                <a:cs typeface="Lato"/>
                <a:sym typeface="Lato"/>
              </a:rPr>
              <a:t>	</a:t>
            </a:r>
            <a:r>
              <a:rPr b="1" i="0" lang="vi-VN" sz="2000" u="none" cap="none" strike="noStrike">
                <a:solidFill>
                  <a:schemeClr val="dk1"/>
                </a:solidFill>
                <a:latin typeface="Lato"/>
                <a:ea typeface="Lato"/>
                <a:cs typeface="Lato"/>
                <a:sym typeface="Lato"/>
              </a:rPr>
              <a:t>Disagreement Regularization</a:t>
            </a:r>
            <a:r>
              <a:rPr b="0" i="0" lang="vi-VN" sz="2000" u="none" cap="none" strike="noStrike">
                <a:solidFill>
                  <a:schemeClr val="dk1"/>
                </a:solidFill>
                <a:latin typeface="Lato"/>
                <a:ea typeface="Lato"/>
                <a:cs typeface="Lato"/>
                <a:sym typeface="Lato"/>
              </a:rPr>
              <a:t>: Tăng cường sự khác biệt giữa các vector sở thích được học.</a:t>
            </a:r>
            <a:endParaRPr b="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rPr lang="vi-VN" sz="2000">
                <a:solidFill>
                  <a:schemeClr val="dk1"/>
                </a:solidFill>
                <a:latin typeface="Lato"/>
                <a:ea typeface="Lato"/>
                <a:cs typeface="Lato"/>
                <a:sym typeface="Lato"/>
              </a:rPr>
              <a:t>Mô hình sẽ được huấn luyện với NCE kết hợp với Disagreement Regularization</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rPr lang="vi-VN" sz="2000">
                <a:solidFill>
                  <a:schemeClr val="dk1"/>
                </a:solidFill>
                <a:latin typeface="Lato"/>
                <a:ea typeface="Lato"/>
                <a:cs typeface="Lato"/>
                <a:sym typeface="Lato"/>
              </a:rPr>
              <a:t>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None/>
            </a:pPr>
            <a:r>
              <a:rPr lang="vi-VN" sz="2000">
                <a:solidFill>
                  <a:schemeClr val="dk1"/>
                </a:solidFill>
                <a:latin typeface="Lato"/>
                <a:ea typeface="Lato"/>
                <a:cs typeface="Lato"/>
                <a:sym typeface="Lato"/>
              </a:rPr>
              <a:t>5.	</a:t>
            </a:r>
            <a:r>
              <a:rPr b="1" i="0" lang="vi-VN" sz="2000" u="none" cap="none" strike="noStrike">
                <a:solidFill>
                  <a:schemeClr val="dk1"/>
                </a:solidFill>
                <a:latin typeface="Lato"/>
                <a:ea typeface="Lato"/>
                <a:cs typeface="Lato"/>
                <a:sym typeface="Lato"/>
              </a:rPr>
              <a:t>Click Predictor</a:t>
            </a:r>
            <a:r>
              <a:rPr b="0" i="0" lang="vi-VN" sz="2000" u="none" cap="none" strike="noStrike">
                <a:solidFill>
                  <a:schemeClr val="dk1"/>
                </a:solidFill>
                <a:latin typeface="Lato"/>
                <a:ea typeface="Lato"/>
                <a:cs typeface="Lato"/>
                <a:sym typeface="Lato"/>
              </a:rPr>
              <a:t>: tổng hợp từ K điểm đối sánh này bằng một trong các phương pháp: MINER-max, MINER-mean, hoặc MINER-weighted (tốt nhất)</a:t>
            </a:r>
            <a:endParaRPr b="0" i="0" sz="2000" u="none" cap="none" strike="noStrike">
              <a:solidFill>
                <a:schemeClr val="dk1"/>
              </a:solidFill>
              <a:latin typeface="Lato"/>
              <a:ea typeface="Lato"/>
              <a:cs typeface="Lato"/>
              <a:sym typeface="Lato"/>
            </a:endParaRPr>
          </a:p>
        </p:txBody>
      </p:sp>
      <p:pic>
        <p:nvPicPr>
          <p:cNvPr id="259" name="Google Shape;259;g3b7941afaaa_0_14"/>
          <p:cNvPicPr preferRelativeResize="0"/>
          <p:nvPr/>
        </p:nvPicPr>
        <p:blipFill rotWithShape="1">
          <a:blip r:embed="rId3">
            <a:alphaModFix/>
          </a:blip>
          <a:srcRect b="0" l="0" r="0" t="0"/>
          <a:stretch/>
        </p:blipFill>
        <p:spPr>
          <a:xfrm>
            <a:off x="4514800" y="1616590"/>
            <a:ext cx="3162425" cy="867350"/>
          </a:xfrm>
          <a:prstGeom prst="rect">
            <a:avLst/>
          </a:prstGeom>
          <a:noFill/>
          <a:ln>
            <a:noFill/>
          </a:ln>
        </p:spPr>
      </p:pic>
      <p:pic>
        <p:nvPicPr>
          <p:cNvPr id="260" name="Google Shape;260;g3b7941afaaa_0_14"/>
          <p:cNvPicPr preferRelativeResize="0"/>
          <p:nvPr/>
        </p:nvPicPr>
        <p:blipFill>
          <a:blip r:embed="rId4">
            <a:alphaModFix/>
          </a:blip>
          <a:stretch>
            <a:fillRect/>
          </a:stretch>
        </p:blipFill>
        <p:spPr>
          <a:xfrm>
            <a:off x="3932838" y="2952950"/>
            <a:ext cx="4326325" cy="757650"/>
          </a:xfrm>
          <a:prstGeom prst="rect">
            <a:avLst/>
          </a:prstGeom>
          <a:noFill/>
          <a:ln>
            <a:noFill/>
          </a:ln>
        </p:spPr>
      </p:pic>
      <p:pic>
        <p:nvPicPr>
          <p:cNvPr id="261" name="Google Shape;261;g3b7941afaaa_0_14"/>
          <p:cNvPicPr preferRelativeResize="0"/>
          <p:nvPr/>
        </p:nvPicPr>
        <p:blipFill>
          <a:blip r:embed="rId5">
            <a:alphaModFix/>
          </a:blip>
          <a:stretch>
            <a:fillRect/>
          </a:stretch>
        </p:blipFill>
        <p:spPr>
          <a:xfrm>
            <a:off x="5000725" y="3830250"/>
            <a:ext cx="2190600" cy="365100"/>
          </a:xfrm>
          <a:prstGeom prst="rect">
            <a:avLst/>
          </a:prstGeom>
          <a:noFill/>
          <a:ln>
            <a:noFill/>
          </a:ln>
        </p:spPr>
      </p:pic>
      <p:pic>
        <p:nvPicPr>
          <p:cNvPr id="262" name="Google Shape;262;g3b7941afaaa_0_14"/>
          <p:cNvPicPr preferRelativeResize="0"/>
          <p:nvPr/>
        </p:nvPicPr>
        <p:blipFill>
          <a:blip r:embed="rId6">
            <a:alphaModFix/>
          </a:blip>
          <a:stretch>
            <a:fillRect/>
          </a:stretch>
        </p:blipFill>
        <p:spPr>
          <a:xfrm>
            <a:off x="4650329" y="5064375"/>
            <a:ext cx="2891325" cy="1066575"/>
          </a:xfrm>
          <a:prstGeom prst="rect">
            <a:avLst/>
          </a:prstGeom>
          <a:noFill/>
          <a:ln>
            <a:noFill/>
          </a:ln>
        </p:spPr>
      </p:pic>
      <p:pic>
        <p:nvPicPr>
          <p:cNvPr id="263" name="Google Shape;263;g3b7941afaaa_0_14"/>
          <p:cNvPicPr preferRelativeResize="0"/>
          <p:nvPr/>
        </p:nvPicPr>
        <p:blipFill>
          <a:blip r:embed="rId7">
            <a:alphaModFix/>
          </a:blip>
          <a:stretch>
            <a:fillRect/>
          </a:stretch>
        </p:blipFill>
        <p:spPr>
          <a:xfrm>
            <a:off x="6330750" y="5246275"/>
            <a:ext cx="1000125" cy="3429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b7941afaaa_0_0"/>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t>2.4 Kết hợp </a:t>
            </a:r>
            <a:endParaRPr/>
          </a:p>
        </p:txBody>
      </p:sp>
      <p:sp>
        <p:nvSpPr>
          <p:cNvPr id="269" name="Google Shape;269;g3b7941afaaa_0_0"/>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270" name="Google Shape;270;g3b7941afaaa_0_0"/>
          <p:cNvSpPr txBox="1"/>
          <p:nvPr/>
        </p:nvSpPr>
        <p:spPr>
          <a:xfrm>
            <a:off x="338700" y="918200"/>
            <a:ext cx="11514600" cy="4402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1" lang="vi-VN" sz="2000">
                <a:solidFill>
                  <a:schemeClr val="dk1"/>
                </a:solidFill>
                <a:latin typeface="Lato"/>
                <a:ea typeface="Lato"/>
                <a:cs typeface="Lato"/>
                <a:sym typeface="Lato"/>
              </a:rPr>
              <a:t>Mục tiêu: </a:t>
            </a:r>
            <a:r>
              <a:rPr lang="vi-VN" sz="2000">
                <a:solidFill>
                  <a:schemeClr val="dk1"/>
                </a:solidFill>
                <a:latin typeface="Lato"/>
                <a:ea typeface="Lato"/>
                <a:cs typeface="Lato"/>
                <a:sym typeface="Lato"/>
              </a:rPr>
              <a:t>Kết hợp đầu ra của 3 mô hình cơ sở (NRMS, MINER, UniLM-FastFormer) nhằm tận dụng tính bổ sung (complementarity) giữa các mô hình và  cải thiện ranking quality trên MIND (AUC, nDCG)</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Clr>
                <a:srgbClr val="000000"/>
              </a:buClr>
              <a:buSzPts val="2000"/>
              <a:buFont typeface="Arial"/>
              <a:buNone/>
            </a:pPr>
            <a:r>
              <a:rPr b="1" lang="vi-VN" sz="2000">
                <a:solidFill>
                  <a:schemeClr val="dk1"/>
                </a:solidFill>
                <a:latin typeface="Lato"/>
                <a:ea typeface="Lato"/>
                <a:cs typeface="Lato"/>
                <a:sym typeface="Lato"/>
              </a:rPr>
              <a:t>Các mô hình cơ sở: </a:t>
            </a:r>
            <a:r>
              <a:rPr lang="vi-VN" sz="2000">
                <a:solidFill>
                  <a:schemeClr val="dk1"/>
                </a:solidFill>
                <a:latin typeface="Lato"/>
                <a:ea typeface="Lato"/>
                <a:cs typeface="Lato"/>
                <a:sym typeface="Lato"/>
              </a:rPr>
              <a:t>Kết quả từ 3 mô hình NRMS, MINER, UniLM-FastFormer được sử dụng để </a:t>
            </a:r>
            <a:r>
              <a:rPr lang="vi-VN" sz="2000">
                <a:solidFill>
                  <a:schemeClr val="dk1"/>
                </a:solidFill>
                <a:latin typeface="Lato"/>
                <a:ea typeface="Lato"/>
                <a:cs typeface="Lato"/>
                <a:sym typeface="Lato"/>
              </a:rPr>
              <a:t>đưa</a:t>
            </a:r>
            <a:r>
              <a:rPr lang="vi-VN" sz="2000">
                <a:solidFill>
                  <a:schemeClr val="dk1"/>
                </a:solidFill>
                <a:latin typeface="Lato"/>
                <a:ea typeface="Lato"/>
                <a:cs typeface="Lato"/>
                <a:sym typeface="Lato"/>
              </a:rPr>
              <a:t> ra dự đoán độc lập trên tập dữ liệu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Clr>
                <a:srgbClr val="000000"/>
              </a:buClr>
              <a:buSzPts val="2000"/>
              <a:buFont typeface="Arial"/>
              <a:buNone/>
            </a:pPr>
            <a:r>
              <a:rPr b="1" lang="vi-VN" sz="2000">
                <a:solidFill>
                  <a:schemeClr val="dk1"/>
                </a:solidFill>
                <a:latin typeface="Lato"/>
                <a:ea typeface="Lato"/>
                <a:cs typeface="Lato"/>
                <a:sym typeface="Lato"/>
              </a:rPr>
              <a:t>Weighted Mean Ensemble:</a:t>
            </a:r>
            <a:r>
              <a:rPr lang="vi-VN" sz="2000">
                <a:solidFill>
                  <a:schemeClr val="dk1"/>
                </a:solidFill>
                <a:latin typeface="Lato"/>
                <a:ea typeface="Lato"/>
                <a:cs typeface="Lato"/>
                <a:sym typeface="Lato"/>
              </a:rPr>
              <a:t> kết hợp các dự đoán bằng cách lấy trung bình có trọng số. Trọng số được tối ưu bằng phương pháp Bayesian Optimization thông qua Optuna nhằm tối đa hóa metric AUC trên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p:txBody>
      </p:sp>
      <p:pic>
        <p:nvPicPr>
          <p:cNvPr id="271" name="Google Shape;271;g3b7941afaaa_0_0"/>
          <p:cNvPicPr preferRelativeResize="0"/>
          <p:nvPr/>
        </p:nvPicPr>
        <p:blipFill>
          <a:blip r:embed="rId3">
            <a:alphaModFix/>
          </a:blip>
          <a:stretch>
            <a:fillRect/>
          </a:stretch>
        </p:blipFill>
        <p:spPr>
          <a:xfrm>
            <a:off x="4874375" y="2610350"/>
            <a:ext cx="2464100" cy="603200"/>
          </a:xfrm>
          <a:prstGeom prst="rect">
            <a:avLst/>
          </a:prstGeom>
          <a:noFill/>
          <a:ln>
            <a:noFill/>
          </a:ln>
        </p:spPr>
      </p:pic>
      <p:pic>
        <p:nvPicPr>
          <p:cNvPr id="272" name="Google Shape;272;g3b7941afaaa_0_0"/>
          <p:cNvPicPr preferRelativeResize="0"/>
          <p:nvPr/>
        </p:nvPicPr>
        <p:blipFill>
          <a:blip r:embed="rId4">
            <a:alphaModFix/>
          </a:blip>
          <a:stretch>
            <a:fillRect/>
          </a:stretch>
        </p:blipFill>
        <p:spPr>
          <a:xfrm>
            <a:off x="4470832" y="4129650"/>
            <a:ext cx="3271200" cy="9241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b7941afaaa_0_46"/>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t>2.4 Kết hợp </a:t>
            </a:r>
            <a:endParaRPr/>
          </a:p>
        </p:txBody>
      </p:sp>
      <p:sp>
        <p:nvSpPr>
          <p:cNvPr id="278" name="Google Shape;278;g3b7941afaaa_0_46"/>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279" name="Google Shape;279;g3b7941afaaa_0_46"/>
          <p:cNvSpPr txBox="1"/>
          <p:nvPr/>
        </p:nvSpPr>
        <p:spPr>
          <a:xfrm>
            <a:off x="338700" y="918200"/>
            <a:ext cx="11514600" cy="5325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1" lang="vi-VN" sz="2000">
                <a:solidFill>
                  <a:schemeClr val="dk1"/>
                </a:solidFill>
                <a:latin typeface="Lato"/>
                <a:ea typeface="Lato"/>
                <a:cs typeface="Lato"/>
                <a:sym typeface="Lato"/>
              </a:rPr>
              <a:t>Feature engineering</a:t>
            </a:r>
            <a:r>
              <a:rPr b="1" lang="vi-VN" sz="2000">
                <a:solidFill>
                  <a:schemeClr val="dk1"/>
                </a:solidFill>
                <a:latin typeface="Lato"/>
                <a:ea typeface="Lato"/>
                <a:cs typeface="Lato"/>
                <a:sym typeface="Lato"/>
              </a:rPr>
              <a:t>: </a:t>
            </a:r>
            <a:r>
              <a:rPr lang="vi-VN" sz="2000">
                <a:solidFill>
                  <a:schemeClr val="dk1"/>
                </a:solidFill>
                <a:latin typeface="Lato"/>
                <a:ea typeface="Lato"/>
                <a:cs typeface="Lato"/>
                <a:sym typeface="Lato"/>
              </a:rPr>
              <a:t>dựa</a:t>
            </a:r>
            <a:r>
              <a:rPr lang="vi-VN" sz="2000">
                <a:solidFill>
                  <a:schemeClr val="dk1"/>
                </a:solidFill>
                <a:latin typeface="Lato"/>
                <a:ea typeface="Lato"/>
                <a:cs typeface="Lato"/>
                <a:sym typeface="Lato"/>
              </a:rPr>
              <a:t> trên các đặc trưng về dữ liệu dự đoán của 3 model, thực hiện khai thác thêm thông tin ngữ cảnh và mối quan hệ tương đối giữa các candidate trong cùng một impression.</a:t>
            </a:r>
            <a:endParaRPr sz="2000">
              <a:solidFill>
                <a:schemeClr val="dk1"/>
              </a:solidFill>
              <a:latin typeface="Lato"/>
              <a:ea typeface="Lato"/>
              <a:cs typeface="Lato"/>
              <a:sym typeface="Lato"/>
            </a:endParaRPr>
          </a:p>
          <a:p>
            <a:pPr indent="-355600" lvl="0" marL="457200" marR="0" rtl="0" algn="just">
              <a:lnSpc>
                <a:spcPct val="100000"/>
              </a:lnSpc>
              <a:spcBef>
                <a:spcPts val="0"/>
              </a:spcBef>
              <a:spcAft>
                <a:spcPts val="0"/>
              </a:spcAft>
              <a:buClr>
                <a:schemeClr val="dk1"/>
              </a:buClr>
              <a:buSzPts val="2000"/>
              <a:buFont typeface="Lato"/>
              <a:buChar char="●"/>
            </a:pPr>
            <a:r>
              <a:rPr lang="vi-VN" sz="2000">
                <a:solidFill>
                  <a:schemeClr val="dk1"/>
                </a:solidFill>
                <a:latin typeface="Lato"/>
                <a:ea typeface="Lato"/>
                <a:cs typeface="Lato"/>
                <a:sym typeface="Lato"/>
              </a:rPr>
              <a:t>Statistical Feature (mean, max, min, std)</a:t>
            </a:r>
            <a:endParaRPr sz="2000">
              <a:solidFill>
                <a:schemeClr val="dk1"/>
              </a:solidFill>
              <a:latin typeface="Lato"/>
              <a:ea typeface="Lato"/>
              <a:cs typeface="Lato"/>
              <a:sym typeface="Lato"/>
            </a:endParaRPr>
          </a:p>
          <a:p>
            <a:pPr indent="-355600" lvl="0" marL="457200" marR="0" rtl="0" algn="just">
              <a:lnSpc>
                <a:spcPct val="100000"/>
              </a:lnSpc>
              <a:spcBef>
                <a:spcPts val="0"/>
              </a:spcBef>
              <a:spcAft>
                <a:spcPts val="0"/>
              </a:spcAft>
              <a:buClr>
                <a:schemeClr val="dk1"/>
              </a:buClr>
              <a:buSzPts val="2000"/>
              <a:buFont typeface="Lato"/>
              <a:buChar char="●"/>
            </a:pPr>
            <a:r>
              <a:rPr lang="vi-VN" sz="2000">
                <a:solidFill>
                  <a:schemeClr val="dk1"/>
                </a:solidFill>
                <a:latin typeface="Lato"/>
                <a:ea typeface="Lato"/>
                <a:cs typeface="Lato"/>
                <a:sym typeface="Lato"/>
              </a:rPr>
              <a:t>Normalize Feature (z-score </a:t>
            </a:r>
            <a:r>
              <a:rPr lang="vi-VN" sz="2000">
                <a:solidFill>
                  <a:schemeClr val="dk1"/>
                </a:solidFill>
                <a:latin typeface="Lato"/>
                <a:ea typeface="Lato"/>
                <a:cs typeface="Lato"/>
                <a:sym typeface="Lato"/>
              </a:rPr>
              <a:t>normalize</a:t>
            </a:r>
            <a:r>
              <a:rPr lang="vi-VN" sz="2000">
                <a:solidFill>
                  <a:schemeClr val="dk1"/>
                </a:solidFill>
                <a:latin typeface="Lato"/>
                <a:ea typeface="Lato"/>
                <a:cs typeface="Lato"/>
                <a:sym typeface="Lato"/>
              </a:rPr>
              <a:t>, min-max normalize)</a:t>
            </a:r>
            <a:endParaRPr sz="2000">
              <a:solidFill>
                <a:schemeClr val="dk1"/>
              </a:solidFill>
              <a:latin typeface="Lato"/>
              <a:ea typeface="Lato"/>
              <a:cs typeface="Lato"/>
              <a:sym typeface="Lato"/>
            </a:endParaRPr>
          </a:p>
          <a:p>
            <a:pPr indent="-355600" lvl="0" marL="457200" marR="0" rtl="0" algn="just">
              <a:lnSpc>
                <a:spcPct val="100000"/>
              </a:lnSpc>
              <a:spcBef>
                <a:spcPts val="0"/>
              </a:spcBef>
              <a:spcAft>
                <a:spcPts val="0"/>
              </a:spcAft>
              <a:buClr>
                <a:schemeClr val="dk1"/>
              </a:buClr>
              <a:buSzPts val="2000"/>
              <a:buFont typeface="Lato"/>
              <a:buChar char="●"/>
            </a:pPr>
            <a:r>
              <a:rPr lang="vi-VN" sz="2000">
                <a:solidFill>
                  <a:schemeClr val="dk1"/>
                </a:solidFill>
                <a:latin typeface="Lato"/>
                <a:ea typeface="Lato"/>
                <a:cs typeface="Lato"/>
                <a:sym typeface="Lato"/>
              </a:rPr>
              <a:t>Rank-based Features (rank, rank-desc)</a:t>
            </a:r>
            <a:endParaRPr sz="2000">
              <a:solidFill>
                <a:schemeClr val="dk1"/>
              </a:solidFill>
              <a:latin typeface="Lato"/>
              <a:ea typeface="Lato"/>
              <a:cs typeface="Lato"/>
              <a:sym typeface="Lato"/>
            </a:endParaRPr>
          </a:p>
          <a:p>
            <a:pPr indent="-355600" lvl="0" marL="457200" marR="0" rtl="0" algn="just">
              <a:lnSpc>
                <a:spcPct val="100000"/>
              </a:lnSpc>
              <a:spcBef>
                <a:spcPts val="0"/>
              </a:spcBef>
              <a:spcAft>
                <a:spcPts val="0"/>
              </a:spcAft>
              <a:buClr>
                <a:schemeClr val="dk1"/>
              </a:buClr>
              <a:buSzPts val="2000"/>
              <a:buFont typeface="Lato"/>
              <a:buChar char="●"/>
            </a:pPr>
            <a:r>
              <a:rPr lang="vi-VN" sz="2000">
                <a:solidFill>
                  <a:schemeClr val="dk1"/>
                </a:solidFill>
                <a:latin typeface="Lato"/>
                <a:ea typeface="Lato"/>
                <a:cs typeface="Lato"/>
                <a:sym typeface="Lato"/>
              </a:rPr>
              <a:t>Pairwise Feature (so sánh bắt cặp giữa các dự đoán của 3 mô hình)</a:t>
            </a:r>
            <a:endParaRPr sz="2000">
              <a:solidFill>
                <a:schemeClr val="dk1"/>
              </a:solidFill>
              <a:latin typeface="Lato"/>
              <a:ea typeface="Lato"/>
              <a:cs typeface="Lato"/>
              <a:sym typeface="Lato"/>
            </a:endParaRPr>
          </a:p>
          <a:p>
            <a:pPr indent="-355600" lvl="0" marL="457200" marR="0" rtl="0" algn="just">
              <a:lnSpc>
                <a:spcPct val="100000"/>
              </a:lnSpc>
              <a:spcBef>
                <a:spcPts val="0"/>
              </a:spcBef>
              <a:spcAft>
                <a:spcPts val="0"/>
              </a:spcAft>
              <a:buClr>
                <a:schemeClr val="dk1"/>
              </a:buClr>
              <a:buSzPts val="2000"/>
              <a:buFont typeface="Lato"/>
              <a:buChar char="●"/>
            </a:pPr>
            <a:r>
              <a:rPr lang="vi-VN" sz="2000">
                <a:solidFill>
                  <a:schemeClr val="dk1"/>
                </a:solidFill>
                <a:latin typeface="Lato"/>
                <a:ea typeface="Lato"/>
                <a:cs typeface="Lato"/>
                <a:sym typeface="Lato"/>
              </a:rPr>
              <a:t>Aggregate Features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None/>
            </a:pPr>
            <a:r>
              <a:rPr b="1" lang="vi-VN" sz="2000">
                <a:solidFill>
                  <a:schemeClr val="dk1"/>
                </a:solidFill>
                <a:latin typeface="Lato"/>
                <a:ea typeface="Lato"/>
                <a:cs typeface="Lato"/>
                <a:sym typeface="Lato"/>
              </a:rPr>
              <a:t>Stacking E</a:t>
            </a:r>
            <a:r>
              <a:rPr b="1" lang="vi-VN" sz="2000">
                <a:solidFill>
                  <a:schemeClr val="dk1"/>
                </a:solidFill>
                <a:latin typeface="Lato"/>
                <a:ea typeface="Lato"/>
                <a:cs typeface="Lato"/>
                <a:sym typeface="Lato"/>
              </a:rPr>
              <a:t>nsemble: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None/>
            </a:pPr>
            <a:r>
              <a:rPr lang="vi-VN" sz="2000">
                <a:solidFill>
                  <a:schemeClr val="dk1"/>
                </a:solidFill>
                <a:latin typeface="Lato"/>
                <a:ea typeface="Lato"/>
                <a:cs typeface="Lato"/>
                <a:sym typeface="Lato"/>
              </a:rPr>
              <a:t>Vector đặc trưng đầu vào sẽ bao gồm dự đoán của các môi hình và các đặc trưng được thống kê</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None/>
            </a:pPr>
            <a:r>
              <a:rPr lang="vi-VN" sz="2000">
                <a:solidFill>
                  <a:schemeClr val="dk1"/>
                </a:solidFill>
                <a:latin typeface="Lato"/>
                <a:ea typeface="Lato"/>
                <a:cs typeface="Lato"/>
                <a:sym typeface="Lato"/>
              </a:rPr>
              <a:t>sử dụng LightGBM với mục tiêu tối ưu cho bài toán ranking. Hàm mục tiêu tối ưu NDCG@k bằng Lambdarank:</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None/>
            </a:pPr>
            <a:r>
              <a:t/>
            </a:r>
            <a:endParaRPr sz="2000">
              <a:solidFill>
                <a:schemeClr val="dk1"/>
              </a:solidFill>
              <a:latin typeface="Lato"/>
              <a:ea typeface="Lato"/>
              <a:cs typeface="Lato"/>
              <a:sym typeface="Lato"/>
            </a:endParaRPr>
          </a:p>
          <a:p>
            <a:pPr indent="0" lvl="0" marL="0" marR="0" rtl="0" algn="just">
              <a:lnSpc>
                <a:spcPct val="100000"/>
              </a:lnSpc>
              <a:spcBef>
                <a:spcPts val="0"/>
              </a:spcBef>
              <a:spcAft>
                <a:spcPts val="0"/>
              </a:spcAft>
              <a:buNone/>
            </a:pPr>
            <a:r>
              <a:rPr lang="vi-VN" sz="2000">
                <a:solidFill>
                  <a:schemeClr val="dk1"/>
                </a:solidFill>
                <a:latin typeface="Lato"/>
                <a:ea typeface="Lato"/>
                <a:cs typeface="Lato"/>
                <a:sym typeface="Lato"/>
              </a:rPr>
              <a:t>Mô hình được huấn luyện bằng GroupKFold </a:t>
            </a:r>
            <a:endParaRPr sz="2000">
              <a:solidFill>
                <a:schemeClr val="dk1"/>
              </a:solidFill>
              <a:latin typeface="Lato"/>
              <a:ea typeface="Lato"/>
              <a:cs typeface="Lato"/>
              <a:sym typeface="Lato"/>
            </a:endParaRPr>
          </a:p>
        </p:txBody>
      </p:sp>
      <p:pic>
        <p:nvPicPr>
          <p:cNvPr id="280" name="Google Shape;280;g3b7941afaaa_0_46"/>
          <p:cNvPicPr preferRelativeResize="0"/>
          <p:nvPr/>
        </p:nvPicPr>
        <p:blipFill>
          <a:blip r:embed="rId3">
            <a:alphaModFix/>
          </a:blip>
          <a:stretch>
            <a:fillRect/>
          </a:stretch>
        </p:blipFill>
        <p:spPr>
          <a:xfrm>
            <a:off x="4429087" y="4039950"/>
            <a:ext cx="3333813" cy="436200"/>
          </a:xfrm>
          <a:prstGeom prst="rect">
            <a:avLst/>
          </a:prstGeom>
          <a:noFill/>
          <a:ln>
            <a:noFill/>
          </a:ln>
        </p:spPr>
      </p:pic>
      <p:pic>
        <p:nvPicPr>
          <p:cNvPr id="281" name="Google Shape;281;g3b7941afaaa_0_46"/>
          <p:cNvPicPr preferRelativeResize="0"/>
          <p:nvPr/>
        </p:nvPicPr>
        <p:blipFill>
          <a:blip r:embed="rId4">
            <a:alphaModFix/>
          </a:blip>
          <a:stretch>
            <a:fillRect/>
          </a:stretch>
        </p:blipFill>
        <p:spPr>
          <a:xfrm>
            <a:off x="4950618" y="5210003"/>
            <a:ext cx="2290750" cy="56810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b7941afaaa_0_58"/>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t>2.4 Kết hợp </a:t>
            </a:r>
            <a:endParaRPr/>
          </a:p>
        </p:txBody>
      </p:sp>
      <p:sp>
        <p:nvSpPr>
          <p:cNvPr id="287" name="Google Shape;287;g3b7941afaaa_0_58"/>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288" name="Google Shape;288;g3b7941afaaa_0_58"/>
          <p:cNvSpPr txBox="1"/>
          <p:nvPr/>
        </p:nvSpPr>
        <p:spPr>
          <a:xfrm>
            <a:off x="338700" y="918200"/>
            <a:ext cx="11514600" cy="163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lang="vi-VN" sz="2000">
                <a:solidFill>
                  <a:schemeClr val="dk1"/>
                </a:solidFill>
                <a:latin typeface="Lato"/>
                <a:ea typeface="Lato"/>
                <a:cs typeface="Lato"/>
                <a:sym typeface="Lato"/>
              </a:rPr>
              <a:t>Fusion model:</a:t>
            </a:r>
            <a:endParaRPr b="1" sz="2000">
              <a:solidFill>
                <a:schemeClr val="dk1"/>
              </a:solidFill>
              <a:latin typeface="Lato"/>
              <a:ea typeface="Lato"/>
              <a:cs typeface="Lato"/>
              <a:sym typeface="Lato"/>
            </a:endParaRPr>
          </a:p>
          <a:p>
            <a:pPr indent="-355600" lvl="0" marL="457200" marR="0" rtl="0" algn="just">
              <a:lnSpc>
                <a:spcPct val="100000"/>
              </a:lnSpc>
              <a:spcBef>
                <a:spcPts val="0"/>
              </a:spcBef>
              <a:spcAft>
                <a:spcPts val="0"/>
              </a:spcAft>
              <a:buClr>
                <a:schemeClr val="dk1"/>
              </a:buClr>
              <a:buSzPts val="2000"/>
              <a:buFont typeface="Lato"/>
              <a:buChar char="●"/>
            </a:pPr>
            <a:r>
              <a:rPr lang="vi-VN" sz="2000">
                <a:solidFill>
                  <a:schemeClr val="dk1"/>
                </a:solidFill>
                <a:latin typeface="Lato"/>
                <a:ea typeface="Lato"/>
                <a:cs typeface="Lato"/>
                <a:sym typeface="Lato"/>
              </a:rPr>
              <a:t>Kết quả cuối cùng được lấy trung bình giữa  Linear ensemble (Optuna-weighted) và Non-linear ensemble (LightGBM stacking).</a:t>
            </a:r>
            <a:endParaRPr sz="2000">
              <a:solidFill>
                <a:schemeClr val="dk1"/>
              </a:solidFill>
              <a:latin typeface="Lato"/>
              <a:ea typeface="Lato"/>
              <a:cs typeface="Lato"/>
              <a:sym typeface="Lato"/>
            </a:endParaRPr>
          </a:p>
          <a:p>
            <a:pPr indent="-355600" lvl="0" marL="457200" marR="0" rtl="0" algn="just">
              <a:lnSpc>
                <a:spcPct val="100000"/>
              </a:lnSpc>
              <a:spcBef>
                <a:spcPts val="0"/>
              </a:spcBef>
              <a:spcAft>
                <a:spcPts val="0"/>
              </a:spcAft>
              <a:buClr>
                <a:schemeClr val="dk1"/>
              </a:buClr>
              <a:buSzPts val="2000"/>
              <a:buFont typeface="Lato"/>
              <a:buChar char="●"/>
            </a:pPr>
            <a:r>
              <a:rPr lang="vi-VN" sz="2000">
                <a:solidFill>
                  <a:schemeClr val="dk1"/>
                </a:solidFill>
                <a:latin typeface="Lato"/>
                <a:ea typeface="Lato"/>
                <a:cs typeface="Lato"/>
                <a:sym typeface="Lato"/>
              </a:rPr>
              <a:t>Mục tiêu là kết hợp Stability và interpretability của linear fusion với Expressiveness của non-linear fusion</a:t>
            </a:r>
            <a:endParaRPr sz="2000">
              <a:solidFill>
                <a:schemeClr val="dk1"/>
              </a:solidFill>
              <a:latin typeface="Lato"/>
              <a:ea typeface="Lato"/>
              <a:cs typeface="Lato"/>
              <a:sym typeface="Lato"/>
            </a:endParaRPr>
          </a:p>
        </p:txBody>
      </p:sp>
      <p:pic>
        <p:nvPicPr>
          <p:cNvPr id="289" name="Google Shape;289;g3b7941afaaa_0_58"/>
          <p:cNvPicPr preferRelativeResize="0"/>
          <p:nvPr/>
        </p:nvPicPr>
        <p:blipFill rotWithShape="1">
          <a:blip r:embed="rId3">
            <a:alphaModFix/>
          </a:blip>
          <a:srcRect b="2903" l="27792" r="0" t="0"/>
          <a:stretch/>
        </p:blipFill>
        <p:spPr>
          <a:xfrm>
            <a:off x="3767926" y="2919350"/>
            <a:ext cx="5280925" cy="29778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4"/>
          <p:cNvSpPr txBox="1"/>
          <p:nvPr>
            <p:ph type="title"/>
          </p:nvPr>
        </p:nvSpPr>
        <p:spPr>
          <a:xfrm>
            <a:off x="2982326" y="3027380"/>
            <a:ext cx="6227348" cy="80324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4800"/>
              <a:buFont typeface="Lato"/>
              <a:buNone/>
            </a:pPr>
            <a:r>
              <a:rPr lang="vi-VN">
                <a:latin typeface="Lato"/>
                <a:ea typeface="Lato"/>
                <a:cs typeface="Lato"/>
                <a:sym typeface="Lato"/>
              </a:rPr>
              <a:t>3. Độ đo đánh giá</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3. Độ đo đánh giá</a:t>
            </a:r>
            <a:endParaRPr/>
          </a:p>
        </p:txBody>
      </p:sp>
      <p:sp>
        <p:nvSpPr>
          <p:cNvPr id="300" name="Google Shape;300;p1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301" name="Google Shape;301;p15"/>
          <p:cNvSpPr txBox="1"/>
          <p:nvPr/>
        </p:nvSpPr>
        <p:spPr>
          <a:xfrm>
            <a:off x="334209" y="1310905"/>
            <a:ext cx="7784122" cy="42473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vi-VN" sz="1800" u="none" cap="none" strike="noStrike">
                <a:solidFill>
                  <a:schemeClr val="dk1"/>
                </a:solidFill>
                <a:latin typeface="Lato"/>
                <a:ea typeface="Lato"/>
                <a:cs typeface="Lato"/>
                <a:sym typeface="Lato"/>
              </a:rPr>
              <a:t>AUC (Area Under the Curve):</a:t>
            </a:r>
            <a:endParaRPr b="0" i="0" sz="1800" u="none" cap="none" strike="noStrike">
              <a:solidFill>
                <a:schemeClr val="dk1"/>
              </a:solidFill>
              <a:latin typeface="Lato"/>
              <a:ea typeface="Lato"/>
              <a:cs typeface="Lato"/>
              <a:sym typeface="Lato"/>
            </a:endParaRPr>
          </a:p>
          <a:p>
            <a:pPr indent="-285750" lvl="0" marL="285750" marR="0" rtl="0" algn="l">
              <a:lnSpc>
                <a:spcPct val="100000"/>
              </a:lnSpc>
              <a:spcBef>
                <a:spcPts val="0"/>
              </a:spcBef>
              <a:spcAft>
                <a:spcPts val="0"/>
              </a:spcAft>
              <a:buClr>
                <a:schemeClr val="dk1"/>
              </a:buClr>
              <a:buSzPts val="1800"/>
              <a:buFont typeface="Arial"/>
              <a:buChar char="•"/>
            </a:pPr>
            <a:r>
              <a:rPr b="0" i="0" lang="vi-VN" sz="1800" u="none" cap="none" strike="noStrike">
                <a:solidFill>
                  <a:schemeClr val="dk1"/>
                </a:solidFill>
                <a:latin typeface="Lato"/>
                <a:ea typeface="Lato"/>
                <a:cs typeface="Lato"/>
                <a:sym typeface="Lato"/>
              </a:rPr>
              <a:t>AUC đo lường khả năng phân biệt giữa các lớp của mô hình, đặc biệt trong bài toán phân loại nhị phân (binary classification).</a:t>
            </a:r>
            <a:endParaRPr b="0" i="0" sz="1800" u="none" cap="none" strike="noStrike">
              <a:solidFill>
                <a:schemeClr val="dk1"/>
              </a:solidFill>
              <a:latin typeface="Lato"/>
              <a:ea typeface="Lato"/>
              <a:cs typeface="Lato"/>
              <a:sym typeface="Lato"/>
            </a:endParaRPr>
          </a:p>
          <a:p>
            <a:pPr indent="-285750" lvl="0" marL="285750" marR="0" rtl="0" algn="l">
              <a:lnSpc>
                <a:spcPct val="100000"/>
              </a:lnSpc>
              <a:spcBef>
                <a:spcPts val="0"/>
              </a:spcBef>
              <a:spcAft>
                <a:spcPts val="0"/>
              </a:spcAft>
              <a:buClr>
                <a:schemeClr val="dk1"/>
              </a:buClr>
              <a:buSzPts val="1800"/>
              <a:buFont typeface="Arial"/>
              <a:buChar char="•"/>
            </a:pPr>
            <a:r>
              <a:rPr b="0" i="0" lang="vi-VN" sz="1800" u="none" cap="none" strike="noStrike">
                <a:solidFill>
                  <a:schemeClr val="dk1"/>
                </a:solidFill>
                <a:latin typeface="Lato"/>
                <a:ea typeface="Lato"/>
                <a:cs typeface="Lato"/>
                <a:sym typeface="Lato"/>
              </a:rPr>
              <a:t>Ý tưởng chính: AUC là diện tích dưới đường cong ROC (Receiver Operating Characteristic), biểu diễn mối quan hệ giữa True Positive Rate (TPR) và False Positive Rate (FPR) ở các ngưỡng khác nhau.</a:t>
            </a:r>
            <a:endParaRPr b="0" i="0" sz="18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800"/>
              <a:buFont typeface="Arial"/>
              <a:buNone/>
            </a:pPr>
            <a:r>
              <a:rPr b="1" i="0" lang="vi-VN" sz="1800" u="none" cap="none" strike="noStrike">
                <a:solidFill>
                  <a:schemeClr val="dk1"/>
                </a:solidFill>
                <a:latin typeface="Lato"/>
                <a:ea typeface="Lato"/>
                <a:cs typeface="Lato"/>
                <a:sym typeface="Lato"/>
              </a:rPr>
              <a:t>MRR (Mean Reciprocal Rank):</a:t>
            </a:r>
            <a:endParaRPr b="0" i="0" sz="1800" u="none" cap="none" strike="noStrike">
              <a:solidFill>
                <a:schemeClr val="dk1"/>
              </a:solidFill>
              <a:latin typeface="Lato"/>
              <a:ea typeface="Lato"/>
              <a:cs typeface="Lato"/>
              <a:sym typeface="Lato"/>
            </a:endParaRPr>
          </a:p>
          <a:p>
            <a:pPr indent="-285750" lvl="0" marL="285750" marR="0" rtl="0" algn="l">
              <a:lnSpc>
                <a:spcPct val="100000"/>
              </a:lnSpc>
              <a:spcBef>
                <a:spcPts val="0"/>
              </a:spcBef>
              <a:spcAft>
                <a:spcPts val="0"/>
              </a:spcAft>
              <a:buClr>
                <a:schemeClr val="dk1"/>
              </a:buClr>
              <a:buSzPts val="1800"/>
              <a:buFont typeface="Arial"/>
              <a:buChar char="•"/>
            </a:pPr>
            <a:r>
              <a:rPr b="0" i="0" lang="vi-VN" sz="1800" u="none" cap="none" strike="noStrike">
                <a:solidFill>
                  <a:schemeClr val="dk1"/>
                </a:solidFill>
                <a:latin typeface="Lato"/>
                <a:ea typeface="Lato"/>
                <a:cs typeface="Lato"/>
                <a:sym typeface="Lato"/>
              </a:rPr>
              <a:t>MRR là một trong những metrics đơn giản nhất trong việc đánh giá các ranking models. MRR tính trung bình của các thức hạng tương ứng của mục liên quan đầu tiên đối với tập các truy vấn Q</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vi-VN" sz="1800" u="none" cap="none" strike="noStrike">
                <a:solidFill>
                  <a:schemeClr val="dk1"/>
                </a:solidFill>
                <a:latin typeface="Lato"/>
                <a:ea typeface="Lato"/>
                <a:cs typeface="Lato"/>
                <a:sym typeface="Lato"/>
              </a:rPr>
              <a:t>NDCG (Normalized Discounted Cumulative Gain):</a:t>
            </a:r>
            <a:endParaRPr b="0" i="0" sz="1800" u="none" cap="none" strike="noStrike">
              <a:solidFill>
                <a:schemeClr val="dk1"/>
              </a:solidFill>
              <a:latin typeface="Lato"/>
              <a:ea typeface="Lato"/>
              <a:cs typeface="Lato"/>
              <a:sym typeface="Lato"/>
            </a:endParaRPr>
          </a:p>
          <a:p>
            <a:pPr indent="-285750" lvl="0" marL="285750" marR="0" rtl="0" algn="l">
              <a:lnSpc>
                <a:spcPct val="100000"/>
              </a:lnSpc>
              <a:spcBef>
                <a:spcPts val="0"/>
              </a:spcBef>
              <a:spcAft>
                <a:spcPts val="0"/>
              </a:spcAft>
              <a:buClr>
                <a:schemeClr val="dk1"/>
              </a:buClr>
              <a:buSzPts val="1800"/>
              <a:buFont typeface="Arial"/>
              <a:buChar char="•"/>
            </a:pPr>
            <a:r>
              <a:rPr b="0" i="0" lang="vi-VN" sz="1800" u="none" cap="none" strike="noStrike">
                <a:solidFill>
                  <a:schemeClr val="dk1"/>
                </a:solidFill>
                <a:latin typeface="Lato"/>
                <a:ea typeface="Lato"/>
                <a:cs typeface="Lato"/>
                <a:sym typeface="Lato"/>
              </a:rPr>
              <a:t>NDCG là độ đo đánh giá chất lượng xếp hạng bằng cách xem xét cả vị trí và độ liên quan (relevance) của các mục trong danh sách được xếp hạng.</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pic>
        <p:nvPicPr>
          <p:cNvPr id="302" name="Google Shape;302;p15"/>
          <p:cNvPicPr preferRelativeResize="0"/>
          <p:nvPr/>
        </p:nvPicPr>
        <p:blipFill rotWithShape="1">
          <a:blip r:embed="rId3">
            <a:alphaModFix/>
          </a:blip>
          <a:srcRect b="0" l="0" r="0" t="0"/>
          <a:stretch/>
        </p:blipFill>
        <p:spPr>
          <a:xfrm>
            <a:off x="8636244" y="936748"/>
            <a:ext cx="3219450" cy="3343275"/>
          </a:xfrm>
          <a:prstGeom prst="rect">
            <a:avLst/>
          </a:prstGeom>
          <a:noFill/>
          <a:ln>
            <a:noFill/>
          </a:ln>
        </p:spPr>
      </p:pic>
      <p:pic>
        <p:nvPicPr>
          <p:cNvPr id="303" name="Google Shape;303;p15"/>
          <p:cNvPicPr preferRelativeResize="0"/>
          <p:nvPr/>
        </p:nvPicPr>
        <p:blipFill rotWithShape="1">
          <a:blip r:embed="rId4">
            <a:alphaModFix/>
          </a:blip>
          <a:srcRect b="0" l="0" r="0" t="0"/>
          <a:stretch/>
        </p:blipFill>
        <p:spPr>
          <a:xfrm>
            <a:off x="8893419" y="4693261"/>
            <a:ext cx="2705100" cy="847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6"/>
          <p:cNvSpPr txBox="1"/>
          <p:nvPr>
            <p:ph type="title"/>
          </p:nvPr>
        </p:nvSpPr>
        <p:spPr>
          <a:xfrm>
            <a:off x="2982326" y="3027380"/>
            <a:ext cx="6227348" cy="80324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4800"/>
              <a:buFont typeface="Lato"/>
              <a:buNone/>
            </a:pPr>
            <a:r>
              <a:rPr lang="vi-VN">
                <a:latin typeface="Lato"/>
                <a:ea typeface="Lato"/>
                <a:cs typeface="Lato"/>
                <a:sym typeface="Lato"/>
              </a:rPr>
              <a:t>4. Kết quả thử nghiệm</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a3efca13b7_0_7"/>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4. Kết quả thử nghiệm</a:t>
            </a:r>
            <a:endParaRPr/>
          </a:p>
        </p:txBody>
      </p:sp>
      <p:sp>
        <p:nvSpPr>
          <p:cNvPr id="314" name="Google Shape;314;g3a3efca13b7_0_7"/>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315" name="Google Shape;315;g3a3efca13b7_0_7"/>
          <p:cNvSpPr txBox="1"/>
          <p:nvPr/>
        </p:nvSpPr>
        <p:spPr>
          <a:xfrm>
            <a:off x="286700" y="889021"/>
            <a:ext cx="7924800" cy="471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vi-VN" sz="2000" u="none" cap="none" strike="noStrike">
                <a:solidFill>
                  <a:schemeClr val="dk1"/>
                </a:solidFill>
                <a:latin typeface="Lato"/>
                <a:ea typeface="Lato"/>
                <a:cs typeface="Lato"/>
                <a:sym typeface="Lato"/>
              </a:rPr>
              <a:t>Tham số huấn luyện trên tập MINDsmall</a:t>
            </a:r>
            <a:endParaRPr b="0" i="0" sz="2000" u="none" cap="none" strike="noStrike">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0" lvl="0" marL="0" marR="0" rtl="0" algn="l">
              <a:lnSpc>
                <a:spcPct val="100000"/>
              </a:lnSpc>
              <a:spcBef>
                <a:spcPts val="0"/>
              </a:spcBef>
              <a:spcAft>
                <a:spcPts val="0"/>
              </a:spcAft>
              <a:buClr>
                <a:srgbClr val="000000"/>
              </a:buClr>
              <a:buSzPts val="2000"/>
              <a:buFont typeface="Arial"/>
              <a:buNone/>
            </a:pPr>
            <a:r>
              <a:t/>
            </a:r>
            <a:endParaRPr sz="2000">
              <a:solidFill>
                <a:schemeClr val="dk1"/>
              </a:solidFill>
              <a:latin typeface="Lato"/>
              <a:ea typeface="Lato"/>
              <a:cs typeface="Lato"/>
              <a:sym typeface="Lato"/>
            </a:endParaRPr>
          </a:p>
          <a:p>
            <a:pPr indent="-355600" lvl="0" marL="457200" marR="0" rtl="0" algn="l">
              <a:lnSpc>
                <a:spcPct val="100000"/>
              </a:lnSpc>
              <a:spcBef>
                <a:spcPts val="0"/>
              </a:spcBef>
              <a:spcAft>
                <a:spcPts val="0"/>
              </a:spcAft>
              <a:buClr>
                <a:schemeClr val="dk1"/>
              </a:buClr>
              <a:buSzPts val="2000"/>
              <a:buFont typeface="Lato"/>
              <a:buChar char="-"/>
            </a:pPr>
            <a:r>
              <a:rPr lang="vi-VN" sz="2000">
                <a:solidFill>
                  <a:schemeClr val="dk1"/>
                </a:solidFill>
                <a:latin typeface="Lato"/>
                <a:ea typeface="Lato"/>
                <a:cs typeface="Lato"/>
                <a:sym typeface="Lato"/>
              </a:rPr>
              <a:t>Optuna: 1000 trials</a:t>
            </a:r>
            <a:endParaRPr sz="2000">
              <a:solidFill>
                <a:schemeClr val="dk1"/>
              </a:solidFill>
              <a:latin typeface="Lato"/>
              <a:ea typeface="Lato"/>
              <a:cs typeface="Lato"/>
              <a:sym typeface="Lato"/>
            </a:endParaRPr>
          </a:p>
          <a:p>
            <a:pPr indent="-355600" lvl="0" marL="457200" marR="0" rtl="0" algn="l">
              <a:lnSpc>
                <a:spcPct val="100000"/>
              </a:lnSpc>
              <a:spcBef>
                <a:spcPts val="0"/>
              </a:spcBef>
              <a:spcAft>
                <a:spcPts val="0"/>
              </a:spcAft>
              <a:buClr>
                <a:schemeClr val="dk1"/>
              </a:buClr>
              <a:buSzPts val="2000"/>
              <a:buFont typeface="Lato"/>
              <a:buChar char="-"/>
            </a:pPr>
            <a:r>
              <a:rPr lang="vi-VN" sz="2000">
                <a:solidFill>
                  <a:schemeClr val="dk1"/>
                </a:solidFill>
                <a:latin typeface="Lato"/>
                <a:ea typeface="Lato"/>
                <a:cs typeface="Lato"/>
                <a:sym typeface="Lato"/>
              </a:rPr>
              <a:t>LightGBM: 10 fold</a:t>
            </a:r>
            <a:endParaRPr sz="2000">
              <a:solidFill>
                <a:schemeClr val="dk1"/>
              </a:solidFill>
              <a:latin typeface="Lato"/>
              <a:ea typeface="Lato"/>
              <a:cs typeface="Lato"/>
              <a:sym typeface="Lato"/>
            </a:endParaRPr>
          </a:p>
        </p:txBody>
      </p:sp>
      <p:graphicFrame>
        <p:nvGraphicFramePr>
          <p:cNvPr id="316" name="Google Shape;316;g3a3efca13b7_0_7"/>
          <p:cNvGraphicFramePr/>
          <p:nvPr/>
        </p:nvGraphicFramePr>
        <p:xfrm>
          <a:off x="1555740" y="1921495"/>
          <a:ext cx="3000000" cy="3000000"/>
        </p:xfrm>
        <a:graphic>
          <a:graphicData uri="http://schemas.openxmlformats.org/drawingml/2006/table">
            <a:tbl>
              <a:tblPr bandRow="1" firstRow="1">
                <a:noFill/>
                <a:tableStyleId>{FA2F0381-8158-45EA-B5CE-76772933F5FB}</a:tableStyleId>
              </a:tblPr>
              <a:tblGrid>
                <a:gridCol w="2033875"/>
                <a:gridCol w="1193475"/>
                <a:gridCol w="1137150"/>
                <a:gridCol w="1128800"/>
                <a:gridCol w="1289575"/>
                <a:gridCol w="1218600"/>
                <a:gridCol w="1079050"/>
              </a:tblGrid>
              <a:tr h="612150">
                <a:tc>
                  <a:txBody>
                    <a:bodyPr/>
                    <a:lstStyle/>
                    <a:p>
                      <a:pPr indent="0" lvl="0" marL="0" marR="0" rtl="0" algn="l">
                        <a:lnSpc>
                          <a:spcPct val="100000"/>
                        </a:lnSpc>
                        <a:spcBef>
                          <a:spcPts val="0"/>
                        </a:spcBef>
                        <a:spcAft>
                          <a:spcPts val="0"/>
                        </a:spcAft>
                        <a:buClr>
                          <a:srgbClr val="000000"/>
                        </a:buClr>
                        <a:buSzPts val="1800"/>
                        <a:buFont typeface="Arial"/>
                        <a:buNone/>
                      </a:pPr>
                      <a:r>
                        <a:rPr b="1" lang="vi-VN" sz="1800" u="none" cap="none" strike="noStrike"/>
                        <a:t>Model</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800"/>
                        <a:buFont typeface="Calibri"/>
                        <a:buNone/>
                      </a:pPr>
                      <a:r>
                        <a:rPr b="1" lang="vi-VN" sz="1800" u="none" cap="none" strike="noStrike"/>
                        <a:t>Learning rate</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Batch size</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epoch</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his length</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max title length</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use abstract</a:t>
                      </a:r>
                      <a:endParaRPr b="1" sz="1800" u="none" cap="none" strike="noStrike"/>
                    </a:p>
                  </a:txBody>
                  <a:tcPr marT="45725" marB="45725" marR="91450" marL="91450"/>
                </a:tc>
              </a:tr>
              <a:tr h="593475">
                <a:tc>
                  <a:txBody>
                    <a:bodyPr/>
                    <a:lstStyle/>
                    <a:p>
                      <a:pPr indent="0" lvl="0" marL="0" marR="0" rtl="0" algn="l">
                        <a:lnSpc>
                          <a:spcPct val="100000"/>
                        </a:lnSpc>
                        <a:spcBef>
                          <a:spcPts val="0"/>
                        </a:spcBef>
                        <a:spcAft>
                          <a:spcPts val="0"/>
                        </a:spcAft>
                        <a:buClr>
                          <a:srgbClr val="000000"/>
                        </a:buClr>
                        <a:buSzPts val="1800"/>
                        <a:buFont typeface="Arial"/>
                        <a:buNone/>
                      </a:pPr>
                      <a:r>
                        <a:rPr b="1" lang="vi-VN" sz="1800" u="none" cap="none" strike="noStrike"/>
                        <a:t>NRMS</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100"/>
                        <a:buFont typeface="Arial"/>
                        <a:buNone/>
                      </a:pPr>
                      <a:r>
                        <a:rPr lang="vi-VN" sz="1800" u="none" cap="none" strike="noStrike"/>
                        <a:t>1e-4</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vi-VN" sz="1800" u="none" cap="none" strike="noStrike"/>
                        <a:t>16</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vi-VN" sz="1800" u="none" cap="none" strike="noStrike"/>
                        <a:t>3</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vi-VN" sz="1800" u="none" cap="none" strike="noStrike"/>
                        <a:t>50</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lang="vi-VN" sz="1800" u="none" cap="none" strike="noStrike"/>
                        <a:t>30</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vi-VN" sz="1800" u="none" cap="none" strike="noStrike"/>
                        <a:t>No</a:t>
                      </a:r>
                      <a:endParaRPr sz="1800" u="none" cap="none" strike="noStrike"/>
                    </a:p>
                  </a:txBody>
                  <a:tcPr marT="45725" marB="45725" marR="91450" marL="91450"/>
                </a:tc>
              </a:tr>
              <a:tr h="658450">
                <a:tc>
                  <a:txBody>
                    <a:bodyPr/>
                    <a:lstStyle/>
                    <a:p>
                      <a:pPr indent="0" lvl="0" marL="0" marR="0" rtl="0" algn="l">
                        <a:lnSpc>
                          <a:spcPct val="100000"/>
                        </a:lnSpc>
                        <a:spcBef>
                          <a:spcPts val="0"/>
                        </a:spcBef>
                        <a:spcAft>
                          <a:spcPts val="0"/>
                        </a:spcAft>
                        <a:buClr>
                          <a:srgbClr val="000000"/>
                        </a:buClr>
                        <a:buSzPts val="1800"/>
                        <a:buFont typeface="Arial"/>
                        <a:buNone/>
                      </a:pPr>
                      <a:r>
                        <a:rPr b="1" lang="vi-VN" sz="1800" u="none" cap="none" strike="noStrike"/>
                        <a:t>UniLM-Fastformer</a:t>
                      </a:r>
                      <a:endParaRPr b="1" sz="18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100"/>
                        <a:buFont typeface="Arial"/>
                        <a:buNone/>
                      </a:pPr>
                      <a:r>
                        <a:rPr lang="vi-VN" sz="1800" u="none" cap="none" strike="noStrike"/>
                        <a:t>1e-4</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100"/>
                        <a:buFont typeface="Arial"/>
                        <a:buNone/>
                      </a:pPr>
                      <a:r>
                        <a:rPr lang="vi-VN" sz="1800" u="none" cap="none" strike="noStrike"/>
                        <a:t>8</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100"/>
                        <a:buFont typeface="Arial"/>
                        <a:buNone/>
                      </a:pPr>
                      <a:r>
                        <a:rPr lang="vi-VN" sz="1800"/>
                        <a:t>20</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100"/>
                        <a:buFont typeface="Arial"/>
                        <a:buNone/>
                      </a:pPr>
                      <a:r>
                        <a:rPr lang="vi-VN" sz="1800" u="none" cap="none" strike="noStrike"/>
                        <a:t>50</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100"/>
                        <a:buFont typeface="Arial"/>
                        <a:buNone/>
                      </a:pPr>
                      <a:r>
                        <a:rPr lang="vi-VN" sz="1800" u="none" cap="none" strike="noStrike"/>
                        <a:t>20</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100"/>
                        <a:buFont typeface="Arial"/>
                        <a:buNone/>
                      </a:pPr>
                      <a:r>
                        <a:rPr lang="vi-VN" sz="1800" u="none" cap="none" strike="noStrike"/>
                        <a:t>No</a:t>
                      </a:r>
                      <a:endParaRPr sz="1400" u="none" cap="none" strike="noStrike"/>
                    </a:p>
                  </a:txBody>
                  <a:tcPr marT="45725" marB="45725" marR="91450" marL="91450"/>
                </a:tc>
              </a:tr>
              <a:tr h="593475">
                <a:tc>
                  <a:txBody>
                    <a:bodyPr/>
                    <a:lstStyle/>
                    <a:p>
                      <a:pPr indent="0" lvl="0" marL="0" marR="0" rtl="0" algn="l">
                        <a:lnSpc>
                          <a:spcPct val="100000"/>
                        </a:lnSpc>
                        <a:spcBef>
                          <a:spcPts val="0"/>
                        </a:spcBef>
                        <a:spcAft>
                          <a:spcPts val="0"/>
                        </a:spcAft>
                        <a:buClr>
                          <a:srgbClr val="000000"/>
                        </a:buClr>
                        <a:buSzPts val="1800"/>
                        <a:buFont typeface="Arial"/>
                        <a:buNone/>
                      </a:pPr>
                      <a:r>
                        <a:rPr b="1" lang="vi-VN" sz="1800" u="none" cap="none" strike="noStrike"/>
                        <a:t>MINER</a:t>
                      </a:r>
                      <a:endParaRPr b="1"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vi-VN" sz="1800" u="none" cap="none" strike="noStrike"/>
                        <a:t>2e-5</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vi-VN" sz="1800" u="none" cap="none" strike="noStrike"/>
                        <a:t>384</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vi-VN" sz="1800" u="none" cap="none" strike="noStrike"/>
                        <a:t>5</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vi-VN" sz="1800" u="none" cap="none" strike="noStrike"/>
                        <a:t>50</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vi-VN" sz="1800" u="none" cap="none" strike="noStrike"/>
                        <a:t>20</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vi-VN" sz="1800" u="none" cap="none" strike="noStrike"/>
                        <a:t>No</a:t>
                      </a:r>
                      <a:endParaRPr sz="1800" u="none" cap="none" strike="noStrike"/>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a3efca13b7_0_38"/>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4. Kết quả thử nghiệm</a:t>
            </a:r>
            <a:endParaRPr/>
          </a:p>
        </p:txBody>
      </p:sp>
      <p:sp>
        <p:nvSpPr>
          <p:cNvPr id="322" name="Google Shape;322;g3a3efca13b7_0_38"/>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323" name="Google Shape;323;g3a3efca13b7_0_38"/>
          <p:cNvSpPr txBox="1"/>
          <p:nvPr/>
        </p:nvSpPr>
        <p:spPr>
          <a:xfrm>
            <a:off x="286700" y="889021"/>
            <a:ext cx="7924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vi-VN" sz="2000" u="none" cap="none" strike="noStrike">
                <a:solidFill>
                  <a:schemeClr val="dk1"/>
                </a:solidFill>
                <a:latin typeface="Lato"/>
                <a:ea typeface="Lato"/>
                <a:cs typeface="Lato"/>
                <a:sym typeface="Lato"/>
              </a:rPr>
              <a:t>Kết quả thử nghiệm trên tập MINDsmall (MINDsmall_validation):</a:t>
            </a:r>
            <a:endParaRPr b="0" i="0" sz="2000" u="none" cap="none" strike="noStrike">
              <a:solidFill>
                <a:schemeClr val="dk1"/>
              </a:solidFill>
              <a:latin typeface="Lato"/>
              <a:ea typeface="Lato"/>
              <a:cs typeface="Lato"/>
              <a:sym typeface="Lato"/>
            </a:endParaRPr>
          </a:p>
        </p:txBody>
      </p:sp>
      <p:graphicFrame>
        <p:nvGraphicFramePr>
          <p:cNvPr id="324" name="Google Shape;324;g3a3efca13b7_0_38"/>
          <p:cNvGraphicFramePr/>
          <p:nvPr/>
        </p:nvGraphicFramePr>
        <p:xfrm>
          <a:off x="2153778" y="1881620"/>
          <a:ext cx="3000000" cy="3000000"/>
        </p:xfrm>
        <a:graphic>
          <a:graphicData uri="http://schemas.openxmlformats.org/drawingml/2006/table">
            <a:tbl>
              <a:tblPr bandRow="1" firstRow="1">
                <a:noFill/>
                <a:tableStyleId>{FA2F0381-8158-45EA-B5CE-76772933F5FB}</a:tableStyleId>
              </a:tblPr>
              <a:tblGrid>
                <a:gridCol w="2068050"/>
                <a:gridCol w="1498300"/>
                <a:gridCol w="898250"/>
                <a:gridCol w="981825"/>
                <a:gridCol w="1169100"/>
                <a:gridCol w="1268900"/>
              </a:tblGrid>
              <a:tr h="646625">
                <a:tc>
                  <a:txBody>
                    <a:bodyPr/>
                    <a:lstStyle/>
                    <a:p>
                      <a:pPr indent="0" lvl="0" marL="0" marR="0" rtl="0" algn="l">
                        <a:lnSpc>
                          <a:spcPct val="100000"/>
                        </a:lnSpc>
                        <a:spcBef>
                          <a:spcPts val="0"/>
                        </a:spcBef>
                        <a:spcAft>
                          <a:spcPts val="0"/>
                        </a:spcAft>
                        <a:buClr>
                          <a:srgbClr val="000000"/>
                        </a:buClr>
                        <a:buSzPts val="1800"/>
                        <a:buFont typeface="Arial"/>
                        <a:buNone/>
                      </a:pPr>
                      <a:r>
                        <a:rPr b="1" lang="vi-VN" sz="1800" u="none" cap="none" strike="noStrike"/>
                        <a:t>Model</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800"/>
                        <a:buFont typeface="Calibri"/>
                        <a:buNone/>
                      </a:pPr>
                      <a:r>
                        <a:rPr b="1" lang="vi-VN" sz="1800" u="none" cap="none" strike="noStrike"/>
                        <a:t>Word Embedding</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AUC</a:t>
                      </a:r>
                      <a:endParaRPr b="1" sz="1400" u="none" cap="none" strike="noStrike"/>
                    </a:p>
                  </a:txBody>
                  <a:tcPr marT="45725" marB="45725" marR="91450" marL="91450">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MRR</a:t>
                      </a:r>
                      <a:endParaRPr b="1" sz="1400" u="none" cap="none" strike="noStrike"/>
                    </a:p>
                  </a:txBody>
                  <a:tcPr marT="45725" marB="45725" marR="91450" marL="91450">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nDCG@5</a:t>
                      </a:r>
                      <a:endParaRPr b="1" sz="1400" u="none" cap="none" strike="noStrike"/>
                    </a:p>
                  </a:txBody>
                  <a:tcPr marT="45725" marB="45725" marR="91450" marL="91450">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NDCG@10</a:t>
                      </a:r>
                      <a:endParaRPr b="1" sz="1400" u="none" cap="none" strike="noStrike"/>
                    </a:p>
                  </a:txBody>
                  <a:tcPr marT="45725" marB="45725" marR="91450" marL="91450">
                    <a:lnB cap="flat" cmpd="sng" w="9525">
                      <a:solidFill>
                        <a:srgbClr val="000000"/>
                      </a:solidFill>
                      <a:prstDash val="solid"/>
                      <a:round/>
                      <a:headEnd len="sm" w="sm" type="none"/>
                      <a:tailEnd len="sm" w="sm" type="none"/>
                    </a:lnB>
                  </a:tcPr>
                </a:tc>
              </a:tr>
              <a:tr h="582825">
                <a:tc>
                  <a:txBody>
                    <a:bodyPr/>
                    <a:lstStyle/>
                    <a:p>
                      <a:pPr indent="0" lvl="0" marL="0" marR="0" rtl="0" algn="l">
                        <a:lnSpc>
                          <a:spcPct val="100000"/>
                        </a:lnSpc>
                        <a:spcBef>
                          <a:spcPts val="0"/>
                        </a:spcBef>
                        <a:spcAft>
                          <a:spcPts val="0"/>
                        </a:spcAft>
                        <a:buClr>
                          <a:srgbClr val="000000"/>
                        </a:buClr>
                        <a:buSzPts val="1800"/>
                        <a:buFont typeface="Arial"/>
                        <a:buNone/>
                      </a:pPr>
                      <a:r>
                        <a:rPr b="1" lang="vi-VN" sz="1800" u="none" cap="none" strike="noStrike"/>
                        <a:t>NRMS</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800"/>
                        <a:buFont typeface="Calibri"/>
                        <a:buNone/>
                      </a:pPr>
                      <a:r>
                        <a:rPr lang="vi-VN" sz="1800" u="none" cap="none" strike="noStrike"/>
                        <a:t>BERT</a:t>
                      </a:r>
                      <a:endParaRPr sz="1400" u="none" cap="none" strike="noStrike"/>
                    </a:p>
                  </a:txBody>
                  <a:tcPr marT="45725" marB="45725" marR="91450" marL="91450">
                    <a:lnR cap="flat" cmpd="sng" w="9525">
                      <a:solidFill>
                        <a:srgbClr val="000000"/>
                      </a:solidFill>
                      <a:prstDash val="solid"/>
                      <a:round/>
                      <a:headEnd len="sm" w="sm" type="none"/>
                      <a:tailEnd len="sm" w="sm" type="none"/>
                    </a:lnR>
                  </a:tcPr>
                </a:tc>
                <a:tc>
                  <a:txBody>
                    <a:bodyPr/>
                    <a:lstStyle/>
                    <a:p>
                      <a:pPr indent="0" lvl="0" marL="22860" marR="0" rtl="0" algn="ctr">
                        <a:lnSpc>
                          <a:spcPct val="100000"/>
                        </a:lnSpc>
                        <a:spcBef>
                          <a:spcPts val="0"/>
                        </a:spcBef>
                        <a:spcAft>
                          <a:spcPts val="0"/>
                        </a:spcAft>
                        <a:buClr>
                          <a:srgbClr val="000000"/>
                        </a:buClr>
                        <a:buSzPts val="1800"/>
                        <a:buFont typeface="Arial"/>
                        <a:buNone/>
                      </a:pPr>
                      <a:r>
                        <a:rPr lang="vi-VN" sz="1800" u="none" cap="none" strike="noStrike"/>
                        <a:t>0.6653</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30" marR="0" rtl="0" algn="ctr">
                        <a:lnSpc>
                          <a:spcPct val="100000"/>
                        </a:lnSpc>
                        <a:spcBef>
                          <a:spcPts val="0"/>
                        </a:spcBef>
                        <a:spcAft>
                          <a:spcPts val="0"/>
                        </a:spcAft>
                        <a:buClr>
                          <a:srgbClr val="000000"/>
                        </a:buClr>
                        <a:buSzPts val="1800"/>
                        <a:buFont typeface="Arial"/>
                        <a:buNone/>
                      </a:pPr>
                      <a:r>
                        <a:rPr lang="vi-VN" sz="1800" u="none" cap="none" strike="noStrike"/>
                        <a:t>0.3152</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1800"/>
                        <a:buFont typeface="Arial"/>
                        <a:buNone/>
                      </a:pPr>
                      <a:r>
                        <a:rPr lang="vi-VN" sz="1800" u="none" cap="none" strike="noStrike"/>
                        <a:t>0.3468</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1800"/>
                        <a:buFont typeface="Arial"/>
                        <a:buNone/>
                      </a:pPr>
                      <a:r>
                        <a:rPr lang="vi-VN" sz="1800" u="none" cap="none" strike="noStrike"/>
                        <a:t>0.4093</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46625">
                <a:tc>
                  <a:txBody>
                    <a:bodyPr/>
                    <a:lstStyle/>
                    <a:p>
                      <a:pPr indent="0" lvl="0" marL="0" marR="0" rtl="0" algn="l">
                        <a:lnSpc>
                          <a:spcPct val="100000"/>
                        </a:lnSpc>
                        <a:spcBef>
                          <a:spcPts val="0"/>
                        </a:spcBef>
                        <a:spcAft>
                          <a:spcPts val="0"/>
                        </a:spcAft>
                        <a:buClr>
                          <a:srgbClr val="000000"/>
                        </a:buClr>
                        <a:buSzPts val="1800"/>
                        <a:buFont typeface="Arial"/>
                        <a:buNone/>
                      </a:pPr>
                      <a:r>
                        <a:rPr b="1" lang="vi-VN" sz="1800" u="none" cap="none" strike="noStrike"/>
                        <a:t>UniLM-Fastformer</a:t>
                      </a:r>
                      <a:endParaRPr b="1" sz="18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800"/>
                        <a:buFont typeface="Calibri"/>
                        <a:buNone/>
                      </a:pPr>
                      <a:r>
                        <a:rPr lang="vi-VN" sz="1800" u="none" cap="none" strike="noStrike"/>
                        <a:t>UniLM </a:t>
                      </a:r>
                      <a:endParaRPr sz="1800" u="none" cap="none" strike="noStrike"/>
                    </a:p>
                  </a:txBody>
                  <a:tcPr marT="45725" marB="45725" marR="91450" marL="91450">
                    <a:lnR cap="flat" cmpd="sng" w="9525">
                      <a:solidFill>
                        <a:srgbClr val="000000"/>
                      </a:solidFill>
                      <a:prstDash val="solid"/>
                      <a:round/>
                      <a:headEnd len="sm" w="sm" type="none"/>
                      <a:tailEnd len="sm" w="sm" type="none"/>
                    </a:lnR>
                  </a:tcPr>
                </a:tc>
                <a:tc>
                  <a:txBody>
                    <a:bodyPr/>
                    <a:lstStyle/>
                    <a:p>
                      <a:pPr indent="0" lvl="0" marL="22860" marR="0" rtl="0" algn="ctr">
                        <a:lnSpc>
                          <a:spcPct val="100000"/>
                        </a:lnSpc>
                        <a:spcBef>
                          <a:spcPts val="0"/>
                        </a:spcBef>
                        <a:spcAft>
                          <a:spcPts val="0"/>
                        </a:spcAft>
                        <a:buClr>
                          <a:srgbClr val="000000"/>
                        </a:buClr>
                        <a:buSzPts val="1800"/>
                        <a:buFont typeface="Arial"/>
                        <a:buNone/>
                      </a:pPr>
                      <a:r>
                        <a:rPr lang="vi-VN" sz="1800" u="none" cap="none" strike="noStrike"/>
                        <a:t>0.6</a:t>
                      </a:r>
                      <a:r>
                        <a:rPr lang="vi-VN" sz="1800"/>
                        <a:t>5</a:t>
                      </a:r>
                      <a:r>
                        <a:rPr lang="vi-VN" sz="1800" u="none" cap="none" strike="noStrike"/>
                        <a:t>79</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30" marR="0" rtl="0" algn="ctr">
                        <a:lnSpc>
                          <a:spcPct val="100000"/>
                        </a:lnSpc>
                        <a:spcBef>
                          <a:spcPts val="0"/>
                        </a:spcBef>
                        <a:spcAft>
                          <a:spcPts val="0"/>
                        </a:spcAft>
                        <a:buClr>
                          <a:srgbClr val="000000"/>
                        </a:buClr>
                        <a:buSzPts val="1800"/>
                        <a:buFont typeface="Arial"/>
                        <a:buNone/>
                      </a:pPr>
                      <a:r>
                        <a:rPr lang="vi-VN" sz="1800" u="none" cap="none" strike="noStrike"/>
                        <a:t>0.3201</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1800"/>
                        <a:buFont typeface="Arial"/>
                        <a:buNone/>
                      </a:pPr>
                      <a:r>
                        <a:rPr lang="vi-VN" sz="1800" u="none" cap="none" strike="noStrike"/>
                        <a:t>0.3521</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1800"/>
                        <a:buFont typeface="Arial"/>
                        <a:buNone/>
                      </a:pPr>
                      <a:r>
                        <a:rPr lang="vi-VN" sz="1800" u="none" cap="none" strike="noStrike"/>
                        <a:t>0.4135</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82825">
                <a:tc>
                  <a:txBody>
                    <a:bodyPr/>
                    <a:lstStyle/>
                    <a:p>
                      <a:pPr indent="0" lvl="0" marL="0" marR="0" rtl="0" algn="l">
                        <a:lnSpc>
                          <a:spcPct val="100000"/>
                        </a:lnSpc>
                        <a:spcBef>
                          <a:spcPts val="0"/>
                        </a:spcBef>
                        <a:spcAft>
                          <a:spcPts val="0"/>
                        </a:spcAft>
                        <a:buClr>
                          <a:srgbClr val="000000"/>
                        </a:buClr>
                        <a:buSzPts val="1800"/>
                        <a:buFont typeface="Arial"/>
                        <a:buNone/>
                      </a:pPr>
                      <a:r>
                        <a:rPr b="1" lang="vi-VN" sz="1800" u="none" cap="none" strike="noStrike"/>
                        <a:t>MINER</a:t>
                      </a:r>
                      <a:endParaRPr b="1"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vi-VN" sz="1800" u="none" cap="none" strike="noStrike"/>
                        <a:t>Distilroberta</a:t>
                      </a:r>
                      <a:endParaRPr sz="1800" u="none" cap="none" strike="noStrike"/>
                    </a:p>
                  </a:txBody>
                  <a:tcPr marT="45725" marB="45725" marR="91450" marL="91450">
                    <a:lnR cap="flat" cmpd="sng" w="9525">
                      <a:solidFill>
                        <a:srgbClr val="000000"/>
                      </a:solidFill>
                      <a:prstDash val="solid"/>
                      <a:round/>
                      <a:headEnd len="sm" w="sm" type="none"/>
                      <a:tailEnd len="sm" w="sm" type="none"/>
                    </a:lnR>
                  </a:tcPr>
                </a:tc>
                <a:tc>
                  <a:txBody>
                    <a:bodyPr/>
                    <a:lstStyle/>
                    <a:p>
                      <a:pPr indent="0" lvl="0" marL="22860" marR="0" rtl="0" algn="ctr">
                        <a:lnSpc>
                          <a:spcPct val="100000"/>
                        </a:lnSpc>
                        <a:spcBef>
                          <a:spcPts val="0"/>
                        </a:spcBef>
                        <a:spcAft>
                          <a:spcPts val="0"/>
                        </a:spcAft>
                        <a:buClr>
                          <a:srgbClr val="000000"/>
                        </a:buClr>
                        <a:buSzPts val="1800"/>
                        <a:buFont typeface="Arial"/>
                        <a:buNone/>
                      </a:pPr>
                      <a:r>
                        <a:rPr lang="vi-VN" sz="1800" u="none" cap="none" strike="noStrike"/>
                        <a:t>0.6793</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30" marR="0" rtl="0" algn="ctr">
                        <a:lnSpc>
                          <a:spcPct val="100000"/>
                        </a:lnSpc>
                        <a:spcBef>
                          <a:spcPts val="0"/>
                        </a:spcBef>
                        <a:spcAft>
                          <a:spcPts val="0"/>
                        </a:spcAft>
                        <a:buClr>
                          <a:srgbClr val="000000"/>
                        </a:buClr>
                        <a:buSzPts val="1800"/>
                        <a:buFont typeface="Arial"/>
                        <a:buNone/>
                      </a:pPr>
                      <a:r>
                        <a:rPr lang="vi-VN" sz="1800" u="none" cap="none" strike="noStrike"/>
                        <a:t>0.3251</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1800"/>
                        <a:buFont typeface="Arial"/>
                        <a:buNone/>
                      </a:pPr>
                      <a:r>
                        <a:rPr lang="vi-VN" sz="1800" u="none" cap="none" strike="noStrike"/>
                        <a:t>0.3585</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1800"/>
                        <a:buFont typeface="Arial"/>
                        <a:buNone/>
                      </a:pPr>
                      <a:r>
                        <a:rPr lang="vi-VN" sz="1800" u="none" cap="none" strike="noStrike"/>
                        <a:t>0.4233</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b7941afaaa_7_45"/>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4. Kết quả thử nghiệm</a:t>
            </a:r>
            <a:endParaRPr/>
          </a:p>
        </p:txBody>
      </p:sp>
      <p:sp>
        <p:nvSpPr>
          <p:cNvPr id="330" name="Google Shape;330;g3b7941afaaa_7_45"/>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331" name="Google Shape;331;g3b7941afaaa_7_45"/>
          <p:cNvSpPr txBox="1"/>
          <p:nvPr/>
        </p:nvSpPr>
        <p:spPr>
          <a:xfrm>
            <a:off x="286700" y="889021"/>
            <a:ext cx="7924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vi-VN" sz="2000" u="none" cap="none" strike="noStrike">
                <a:solidFill>
                  <a:schemeClr val="dk1"/>
                </a:solidFill>
                <a:latin typeface="Lato"/>
                <a:ea typeface="Lato"/>
                <a:cs typeface="Lato"/>
                <a:sym typeface="Lato"/>
              </a:rPr>
              <a:t>Kết quả thử nghiệm trên tập </a:t>
            </a:r>
            <a:r>
              <a:rPr lang="vi-VN" sz="2000">
                <a:solidFill>
                  <a:schemeClr val="dk1"/>
                </a:solidFill>
                <a:latin typeface="Lato"/>
                <a:ea typeface="Lato"/>
                <a:cs typeface="Lato"/>
                <a:sym typeface="Lato"/>
              </a:rPr>
              <a:t>test</a:t>
            </a:r>
            <a:r>
              <a:rPr b="0" i="0" lang="vi-VN" sz="2000" u="none" cap="none" strike="noStrike">
                <a:solidFill>
                  <a:schemeClr val="dk1"/>
                </a:solidFill>
                <a:latin typeface="Lato"/>
                <a:ea typeface="Lato"/>
                <a:cs typeface="Lato"/>
                <a:sym typeface="Lato"/>
              </a:rPr>
              <a:t>:</a:t>
            </a:r>
            <a:endParaRPr b="0" i="0" sz="2000" u="none" cap="none" strike="noStrike">
              <a:solidFill>
                <a:schemeClr val="dk1"/>
              </a:solidFill>
              <a:latin typeface="Lato"/>
              <a:ea typeface="Lato"/>
              <a:cs typeface="Lato"/>
              <a:sym typeface="Lato"/>
            </a:endParaRPr>
          </a:p>
        </p:txBody>
      </p:sp>
      <p:graphicFrame>
        <p:nvGraphicFramePr>
          <p:cNvPr id="332" name="Google Shape;332;g3b7941afaaa_7_45"/>
          <p:cNvGraphicFramePr/>
          <p:nvPr/>
        </p:nvGraphicFramePr>
        <p:xfrm>
          <a:off x="2153778" y="1881620"/>
          <a:ext cx="3000000" cy="3000000"/>
        </p:xfrm>
        <a:graphic>
          <a:graphicData uri="http://schemas.openxmlformats.org/drawingml/2006/table">
            <a:tbl>
              <a:tblPr bandRow="1" firstRow="1">
                <a:noFill/>
                <a:tableStyleId>{FA2F0381-8158-45EA-B5CE-76772933F5FB}</a:tableStyleId>
              </a:tblPr>
              <a:tblGrid>
                <a:gridCol w="2068050"/>
                <a:gridCol w="1498300"/>
                <a:gridCol w="898250"/>
                <a:gridCol w="981825"/>
                <a:gridCol w="1169100"/>
                <a:gridCol w="1268900"/>
              </a:tblGrid>
              <a:tr h="646625">
                <a:tc>
                  <a:txBody>
                    <a:bodyPr/>
                    <a:lstStyle/>
                    <a:p>
                      <a:pPr indent="0" lvl="0" marL="0" marR="0" rtl="0" algn="l">
                        <a:lnSpc>
                          <a:spcPct val="100000"/>
                        </a:lnSpc>
                        <a:spcBef>
                          <a:spcPts val="0"/>
                        </a:spcBef>
                        <a:spcAft>
                          <a:spcPts val="0"/>
                        </a:spcAft>
                        <a:buClr>
                          <a:srgbClr val="000000"/>
                        </a:buClr>
                        <a:buSzPts val="1800"/>
                        <a:buFont typeface="Arial"/>
                        <a:buNone/>
                      </a:pPr>
                      <a:r>
                        <a:rPr b="1" lang="vi-VN" sz="1800" u="none" cap="none" strike="noStrike"/>
                        <a:t>Model</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800"/>
                        <a:buFont typeface="Calibri"/>
                        <a:buNone/>
                      </a:pPr>
                      <a:r>
                        <a:rPr b="1" lang="vi-VN" sz="1800" u="none" cap="none" strike="noStrike"/>
                        <a:t>Word Embedding</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AUC</a:t>
                      </a:r>
                      <a:endParaRPr b="1" sz="1400" u="none" cap="none" strike="noStrike"/>
                    </a:p>
                  </a:txBody>
                  <a:tcPr marT="45725" marB="45725" marR="91450" marL="91450">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MRR</a:t>
                      </a:r>
                      <a:endParaRPr b="1" sz="1400" u="none" cap="none" strike="noStrike"/>
                    </a:p>
                  </a:txBody>
                  <a:tcPr marT="45725" marB="45725" marR="91450" marL="91450">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nDCG@5</a:t>
                      </a:r>
                      <a:endParaRPr b="1" sz="1400" u="none" cap="none" strike="noStrike"/>
                    </a:p>
                  </a:txBody>
                  <a:tcPr marT="45725" marB="45725" marR="91450" marL="91450">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vi-VN" sz="1800" u="none" cap="none" strike="noStrike"/>
                        <a:t>NDCG@10</a:t>
                      </a:r>
                      <a:endParaRPr b="1" sz="1400" u="none" cap="none" strike="noStrike"/>
                    </a:p>
                  </a:txBody>
                  <a:tcPr marT="45725" marB="45725" marR="91450" marL="91450">
                    <a:lnB cap="flat" cmpd="sng" w="9525">
                      <a:solidFill>
                        <a:srgbClr val="000000"/>
                      </a:solidFill>
                      <a:prstDash val="solid"/>
                      <a:round/>
                      <a:headEnd len="sm" w="sm" type="none"/>
                      <a:tailEnd len="sm" w="sm" type="none"/>
                    </a:lnB>
                  </a:tcPr>
                </a:tc>
              </a:tr>
              <a:tr h="582825">
                <a:tc>
                  <a:txBody>
                    <a:bodyPr/>
                    <a:lstStyle/>
                    <a:p>
                      <a:pPr indent="0" lvl="0" marL="0" marR="0" rtl="0" algn="l">
                        <a:lnSpc>
                          <a:spcPct val="100000"/>
                        </a:lnSpc>
                        <a:spcBef>
                          <a:spcPts val="0"/>
                        </a:spcBef>
                        <a:spcAft>
                          <a:spcPts val="0"/>
                        </a:spcAft>
                        <a:buClr>
                          <a:srgbClr val="000000"/>
                        </a:buClr>
                        <a:buSzPts val="1800"/>
                        <a:buFont typeface="Arial"/>
                        <a:buNone/>
                      </a:pPr>
                      <a:r>
                        <a:rPr b="1" lang="vi-VN" sz="1800" u="none" cap="none" strike="noStrike"/>
                        <a:t>NRMS</a:t>
                      </a:r>
                      <a:endParaRPr b="1"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800"/>
                        <a:buFont typeface="Calibri"/>
                        <a:buNone/>
                      </a:pPr>
                      <a:r>
                        <a:rPr lang="vi-VN" sz="1800" u="none" cap="none" strike="noStrike"/>
                        <a:t>BERT</a:t>
                      </a:r>
                      <a:endParaRPr sz="1400" u="none" cap="none" strike="noStrike"/>
                    </a:p>
                  </a:txBody>
                  <a:tcPr marT="45725" marB="45725" marR="91450" marL="91450">
                    <a:lnR cap="flat" cmpd="sng" w="9525">
                      <a:solidFill>
                        <a:srgbClr val="000000"/>
                      </a:solidFill>
                      <a:prstDash val="solid"/>
                      <a:round/>
                      <a:headEnd len="sm" w="sm" type="none"/>
                      <a:tailEnd len="sm" w="sm" type="none"/>
                    </a:lnR>
                  </a:tcPr>
                </a:tc>
                <a:tc>
                  <a:txBody>
                    <a:bodyPr/>
                    <a:lstStyle/>
                    <a:p>
                      <a:pPr indent="0" lvl="0" marL="22860" marR="0" rtl="0" algn="ctr">
                        <a:lnSpc>
                          <a:spcPct val="100000"/>
                        </a:lnSpc>
                        <a:spcBef>
                          <a:spcPts val="0"/>
                        </a:spcBef>
                        <a:spcAft>
                          <a:spcPts val="0"/>
                        </a:spcAft>
                        <a:buClr>
                          <a:srgbClr val="000000"/>
                        </a:buClr>
                        <a:buSzPts val="1800"/>
                        <a:buFont typeface="Arial"/>
                        <a:buNone/>
                      </a:pPr>
                      <a:r>
                        <a:rPr lang="vi-VN" sz="1800" u="none" cap="none" strike="noStrike"/>
                        <a:t>0.6</a:t>
                      </a:r>
                      <a:r>
                        <a:rPr lang="vi-VN" sz="1800"/>
                        <a:t>801</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30" marR="0" rtl="0" algn="ctr">
                        <a:lnSpc>
                          <a:spcPct val="100000"/>
                        </a:lnSpc>
                        <a:spcBef>
                          <a:spcPts val="0"/>
                        </a:spcBef>
                        <a:spcAft>
                          <a:spcPts val="0"/>
                        </a:spcAft>
                        <a:buClr>
                          <a:srgbClr val="000000"/>
                        </a:buClr>
                        <a:buSzPts val="1800"/>
                        <a:buFont typeface="Arial"/>
                        <a:buNone/>
                      </a:pPr>
                      <a:r>
                        <a:rPr lang="vi-VN" sz="1800" u="none" cap="none" strike="noStrike"/>
                        <a:t>0.3</a:t>
                      </a:r>
                      <a:r>
                        <a:rPr lang="vi-VN" sz="1800"/>
                        <a:t>325</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1800"/>
                        <a:buFont typeface="Arial"/>
                        <a:buNone/>
                      </a:pPr>
                      <a:r>
                        <a:rPr lang="vi-VN" sz="1800" u="none" cap="none" strike="noStrike"/>
                        <a:t>0.3</a:t>
                      </a:r>
                      <a:r>
                        <a:rPr lang="vi-VN" sz="1800"/>
                        <a:t>619</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1800"/>
                        <a:buFont typeface="Arial"/>
                        <a:buNone/>
                      </a:pPr>
                      <a:r>
                        <a:rPr lang="vi-VN" sz="1800" u="none" cap="none" strike="noStrike"/>
                        <a:t>0.4</a:t>
                      </a:r>
                      <a:r>
                        <a:rPr lang="vi-VN" sz="1800"/>
                        <a:t>192</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46625">
                <a:tc>
                  <a:txBody>
                    <a:bodyPr/>
                    <a:lstStyle/>
                    <a:p>
                      <a:pPr indent="0" lvl="0" marL="0" marR="0" rtl="0" algn="l">
                        <a:lnSpc>
                          <a:spcPct val="100000"/>
                        </a:lnSpc>
                        <a:spcBef>
                          <a:spcPts val="0"/>
                        </a:spcBef>
                        <a:spcAft>
                          <a:spcPts val="0"/>
                        </a:spcAft>
                        <a:buClr>
                          <a:srgbClr val="000000"/>
                        </a:buClr>
                        <a:buSzPts val="1800"/>
                        <a:buFont typeface="Arial"/>
                        <a:buNone/>
                      </a:pPr>
                      <a:r>
                        <a:rPr b="1" lang="vi-VN" sz="1800" u="none" cap="none" strike="noStrike"/>
                        <a:t>UniLM-Fastformer</a:t>
                      </a:r>
                      <a:endParaRPr b="1" sz="18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800"/>
                        <a:buFont typeface="Calibri"/>
                        <a:buNone/>
                      </a:pPr>
                      <a:r>
                        <a:rPr lang="vi-VN" sz="1800" u="none" cap="none" strike="noStrike"/>
                        <a:t>UniLM </a:t>
                      </a:r>
                      <a:endParaRPr sz="1800" u="none" cap="none" strike="noStrike"/>
                    </a:p>
                  </a:txBody>
                  <a:tcPr marT="45725" marB="45725" marR="91450" marL="91450">
                    <a:lnR cap="flat" cmpd="sng" w="9525">
                      <a:solidFill>
                        <a:srgbClr val="000000"/>
                      </a:solidFill>
                      <a:prstDash val="solid"/>
                      <a:round/>
                      <a:headEnd len="sm" w="sm" type="none"/>
                      <a:tailEnd len="sm" w="sm" type="none"/>
                    </a:lnR>
                  </a:tcPr>
                </a:tc>
                <a:tc>
                  <a:txBody>
                    <a:bodyPr/>
                    <a:lstStyle/>
                    <a:p>
                      <a:pPr indent="0" lvl="0" marL="22860" marR="0" rtl="0" algn="ctr">
                        <a:lnSpc>
                          <a:spcPct val="100000"/>
                        </a:lnSpc>
                        <a:spcBef>
                          <a:spcPts val="0"/>
                        </a:spcBef>
                        <a:spcAft>
                          <a:spcPts val="0"/>
                        </a:spcAft>
                        <a:buClr>
                          <a:srgbClr val="000000"/>
                        </a:buClr>
                        <a:buSzPts val="1800"/>
                        <a:buFont typeface="Arial"/>
                        <a:buNone/>
                      </a:pPr>
                      <a:r>
                        <a:rPr lang="vi-VN" sz="1800" u="none" cap="none" strike="noStrike"/>
                        <a:t>0.6</a:t>
                      </a:r>
                      <a:r>
                        <a:rPr lang="vi-VN" sz="1800"/>
                        <a:t>711</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30" marR="0" rtl="0" algn="ctr">
                        <a:lnSpc>
                          <a:spcPct val="100000"/>
                        </a:lnSpc>
                        <a:spcBef>
                          <a:spcPts val="0"/>
                        </a:spcBef>
                        <a:spcAft>
                          <a:spcPts val="0"/>
                        </a:spcAft>
                        <a:buClr>
                          <a:srgbClr val="000000"/>
                        </a:buClr>
                        <a:buSzPts val="1800"/>
                        <a:buFont typeface="Arial"/>
                        <a:buNone/>
                      </a:pPr>
                      <a:r>
                        <a:rPr lang="vi-VN" sz="1800" u="none" cap="none" strike="noStrike"/>
                        <a:t>0.3201</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1800"/>
                        <a:buFont typeface="Arial"/>
                        <a:buNone/>
                      </a:pPr>
                      <a:r>
                        <a:rPr lang="vi-VN" sz="1800" u="none" cap="none" strike="noStrike"/>
                        <a:t>0.3521</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1800"/>
                        <a:buFont typeface="Arial"/>
                        <a:buNone/>
                      </a:pPr>
                      <a:r>
                        <a:rPr lang="vi-VN" sz="1800" u="none" cap="none" strike="noStrike"/>
                        <a:t>0.4135</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82825">
                <a:tc>
                  <a:txBody>
                    <a:bodyPr/>
                    <a:lstStyle/>
                    <a:p>
                      <a:pPr indent="0" lvl="0" marL="0" marR="0" rtl="0" algn="l">
                        <a:lnSpc>
                          <a:spcPct val="100000"/>
                        </a:lnSpc>
                        <a:spcBef>
                          <a:spcPts val="0"/>
                        </a:spcBef>
                        <a:spcAft>
                          <a:spcPts val="0"/>
                        </a:spcAft>
                        <a:buClr>
                          <a:srgbClr val="000000"/>
                        </a:buClr>
                        <a:buSzPts val="1800"/>
                        <a:buFont typeface="Arial"/>
                        <a:buNone/>
                      </a:pPr>
                      <a:r>
                        <a:rPr b="1" lang="vi-VN" sz="1800" u="none" cap="none" strike="noStrike"/>
                        <a:t>MINER</a:t>
                      </a:r>
                      <a:endParaRPr b="1"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vi-VN" sz="1800" u="none" cap="none" strike="noStrike"/>
                        <a:t>Distilroberta</a:t>
                      </a:r>
                      <a:endParaRPr sz="1800" u="none" cap="none" strike="noStrike"/>
                    </a:p>
                  </a:txBody>
                  <a:tcPr marT="45725" marB="45725" marR="91450" marL="91450">
                    <a:lnR cap="flat" cmpd="sng" w="9525">
                      <a:solidFill>
                        <a:srgbClr val="000000"/>
                      </a:solidFill>
                      <a:prstDash val="solid"/>
                      <a:round/>
                      <a:headEnd len="sm" w="sm" type="none"/>
                      <a:tailEnd len="sm" w="sm" type="none"/>
                    </a:lnR>
                  </a:tcPr>
                </a:tc>
                <a:tc>
                  <a:txBody>
                    <a:bodyPr/>
                    <a:lstStyle/>
                    <a:p>
                      <a:pPr indent="0" lvl="0" marL="22860" marR="0" rtl="0" algn="ctr">
                        <a:lnSpc>
                          <a:spcPct val="100000"/>
                        </a:lnSpc>
                        <a:spcBef>
                          <a:spcPts val="0"/>
                        </a:spcBef>
                        <a:spcAft>
                          <a:spcPts val="0"/>
                        </a:spcAft>
                        <a:buClr>
                          <a:srgbClr val="000000"/>
                        </a:buClr>
                        <a:buSzPts val="1800"/>
                        <a:buFont typeface="Arial"/>
                        <a:buNone/>
                      </a:pPr>
                      <a:r>
                        <a:rPr lang="vi-VN" sz="1800" u="none" cap="none" strike="noStrike"/>
                        <a:t>0.67</a:t>
                      </a:r>
                      <a:r>
                        <a:rPr lang="vi-VN" sz="1800"/>
                        <a:t>18</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4130" marR="0" rtl="0" algn="ctr">
                        <a:lnSpc>
                          <a:spcPct val="100000"/>
                        </a:lnSpc>
                        <a:spcBef>
                          <a:spcPts val="0"/>
                        </a:spcBef>
                        <a:spcAft>
                          <a:spcPts val="0"/>
                        </a:spcAft>
                        <a:buClr>
                          <a:srgbClr val="000000"/>
                        </a:buClr>
                        <a:buSzPts val="1800"/>
                        <a:buFont typeface="Arial"/>
                        <a:buNone/>
                      </a:pPr>
                      <a:r>
                        <a:rPr lang="vi-VN" sz="1800" u="none" cap="none" strike="noStrike"/>
                        <a:t>0.32</a:t>
                      </a:r>
                      <a:r>
                        <a:rPr lang="vi-VN" sz="1800"/>
                        <a:t>25</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1800"/>
                        <a:buFont typeface="Arial"/>
                        <a:buNone/>
                      </a:pPr>
                      <a:r>
                        <a:rPr lang="vi-VN" sz="1800" u="none" cap="none" strike="noStrike"/>
                        <a:t>0.3</a:t>
                      </a:r>
                      <a:r>
                        <a:rPr lang="vi-VN" sz="1800"/>
                        <a:t>498</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23495" marR="0" rtl="0" algn="ctr">
                        <a:lnSpc>
                          <a:spcPct val="100000"/>
                        </a:lnSpc>
                        <a:spcBef>
                          <a:spcPts val="0"/>
                        </a:spcBef>
                        <a:spcAft>
                          <a:spcPts val="0"/>
                        </a:spcAft>
                        <a:buClr>
                          <a:srgbClr val="000000"/>
                        </a:buClr>
                        <a:buSzPts val="1800"/>
                        <a:buFont typeface="Arial"/>
                        <a:buNone/>
                      </a:pPr>
                      <a:r>
                        <a:rPr lang="vi-VN" sz="1800" u="none" cap="none" strike="noStrike"/>
                        <a:t>0.4</a:t>
                      </a:r>
                      <a:r>
                        <a:rPr lang="vi-VN" sz="1800"/>
                        <a:t>077</a:t>
                      </a:r>
                      <a:endParaRPr sz="1800" u="none" cap="none" strike="noStrike"/>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b7941afaaa_7_0"/>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4. Kết quả thử nghiệm</a:t>
            </a:r>
            <a:endParaRPr/>
          </a:p>
        </p:txBody>
      </p:sp>
      <p:sp>
        <p:nvSpPr>
          <p:cNvPr id="338" name="Google Shape;338;g3b7941afaaa_7_0"/>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339" name="Google Shape;339;g3b7941afaaa_7_0"/>
          <p:cNvSpPr txBox="1"/>
          <p:nvPr/>
        </p:nvSpPr>
        <p:spPr>
          <a:xfrm>
            <a:off x="286700" y="889021"/>
            <a:ext cx="7924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lang="vi-VN" sz="2000">
                <a:solidFill>
                  <a:schemeClr val="dk1"/>
                </a:solidFill>
                <a:latin typeface="Lato"/>
                <a:ea typeface="Lato"/>
                <a:cs typeface="Lato"/>
                <a:sym typeface="Lato"/>
              </a:rPr>
              <a:t>Kết quả huyến luyện Optuna và Quá trình chọn lọc trọng số của Optuna</a:t>
            </a:r>
            <a:endParaRPr sz="2000">
              <a:solidFill>
                <a:schemeClr val="dk1"/>
              </a:solidFill>
              <a:latin typeface="Lato"/>
              <a:ea typeface="Lato"/>
              <a:cs typeface="Lato"/>
              <a:sym typeface="Lato"/>
            </a:endParaRPr>
          </a:p>
        </p:txBody>
      </p:sp>
      <p:pic>
        <p:nvPicPr>
          <p:cNvPr id="340" name="Google Shape;340;g3b7941afaaa_7_0"/>
          <p:cNvPicPr preferRelativeResize="0"/>
          <p:nvPr/>
        </p:nvPicPr>
        <p:blipFill>
          <a:blip r:embed="rId3">
            <a:alphaModFix/>
          </a:blip>
          <a:stretch>
            <a:fillRect/>
          </a:stretch>
        </p:blipFill>
        <p:spPr>
          <a:xfrm>
            <a:off x="170475" y="1682022"/>
            <a:ext cx="5848350" cy="3493952"/>
          </a:xfrm>
          <a:prstGeom prst="rect">
            <a:avLst/>
          </a:prstGeom>
          <a:noFill/>
          <a:ln>
            <a:noFill/>
          </a:ln>
        </p:spPr>
      </p:pic>
      <p:pic>
        <p:nvPicPr>
          <p:cNvPr id="341" name="Google Shape;341;g3b7941afaaa_7_0"/>
          <p:cNvPicPr preferRelativeResize="0"/>
          <p:nvPr/>
        </p:nvPicPr>
        <p:blipFill>
          <a:blip r:embed="rId4">
            <a:alphaModFix/>
          </a:blip>
          <a:stretch>
            <a:fillRect/>
          </a:stretch>
        </p:blipFill>
        <p:spPr>
          <a:xfrm>
            <a:off x="6126600" y="2058725"/>
            <a:ext cx="5848350" cy="2924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3b7941afaaa_7_11"/>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4. Kết quả thử nghiệm</a:t>
            </a:r>
            <a:endParaRPr/>
          </a:p>
        </p:txBody>
      </p:sp>
      <p:sp>
        <p:nvSpPr>
          <p:cNvPr id="347" name="Google Shape;347;g3b7941afaaa_7_11"/>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348" name="Google Shape;348;g3b7941afaaa_7_11"/>
          <p:cNvSpPr txBox="1"/>
          <p:nvPr/>
        </p:nvSpPr>
        <p:spPr>
          <a:xfrm>
            <a:off x="286700" y="889021"/>
            <a:ext cx="7924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lang="vi-VN" sz="2000">
                <a:solidFill>
                  <a:schemeClr val="dk1"/>
                </a:solidFill>
                <a:latin typeface="Lato"/>
                <a:ea typeface="Lato"/>
                <a:cs typeface="Lato"/>
                <a:sym typeface="Lato"/>
              </a:rPr>
              <a:t>Kết quả huấn luyện LightGBM</a:t>
            </a:r>
            <a:endParaRPr b="0" i="0" sz="2000" u="none" cap="none" strike="noStrike">
              <a:solidFill>
                <a:schemeClr val="dk1"/>
              </a:solidFill>
              <a:latin typeface="Lato"/>
              <a:ea typeface="Lato"/>
              <a:cs typeface="Lato"/>
              <a:sym typeface="Lato"/>
            </a:endParaRPr>
          </a:p>
        </p:txBody>
      </p:sp>
      <p:pic>
        <p:nvPicPr>
          <p:cNvPr id="349" name="Google Shape;349;g3b7941afaaa_7_11"/>
          <p:cNvPicPr preferRelativeResize="0"/>
          <p:nvPr/>
        </p:nvPicPr>
        <p:blipFill>
          <a:blip r:embed="rId3">
            <a:alphaModFix/>
          </a:blip>
          <a:stretch>
            <a:fillRect/>
          </a:stretch>
        </p:blipFill>
        <p:spPr>
          <a:xfrm>
            <a:off x="2218025" y="1400525"/>
            <a:ext cx="7755950" cy="464851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3b7941afaaa_7_21"/>
          <p:cNvSpPr txBox="1"/>
          <p:nvPr>
            <p:ph type="title"/>
          </p:nvPr>
        </p:nvSpPr>
        <p:spPr>
          <a:xfrm>
            <a:off x="338736" y="112543"/>
            <a:ext cx="11514600" cy="436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4. Kết quả thử nghiệm</a:t>
            </a:r>
            <a:endParaRPr/>
          </a:p>
        </p:txBody>
      </p:sp>
      <p:sp>
        <p:nvSpPr>
          <p:cNvPr id="355" name="Google Shape;355;g3b7941afaaa_7_21"/>
          <p:cNvSpPr txBox="1"/>
          <p:nvPr>
            <p:ph idx="12" type="sldNum"/>
          </p:nvPr>
        </p:nvSpPr>
        <p:spPr>
          <a:xfrm>
            <a:off x="9156511" y="6492875"/>
            <a:ext cx="2743200" cy="3651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356" name="Google Shape;356;g3b7941afaaa_7_21"/>
          <p:cNvSpPr txBox="1"/>
          <p:nvPr/>
        </p:nvSpPr>
        <p:spPr>
          <a:xfrm>
            <a:off x="286700" y="889021"/>
            <a:ext cx="7924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lang="vi-VN" sz="2000">
                <a:solidFill>
                  <a:schemeClr val="dk1"/>
                </a:solidFill>
                <a:latin typeface="Lato"/>
                <a:ea typeface="Lato"/>
                <a:cs typeface="Lato"/>
                <a:sym typeface="Lato"/>
              </a:rPr>
              <a:t>Kết quả trên tập (MIND large-test)</a:t>
            </a:r>
            <a:endParaRPr b="0" i="0" sz="2000" u="none" cap="none" strike="noStrike">
              <a:solidFill>
                <a:schemeClr val="dk1"/>
              </a:solidFill>
              <a:latin typeface="Lato"/>
              <a:ea typeface="Lato"/>
              <a:cs typeface="Lato"/>
              <a:sym typeface="Lato"/>
            </a:endParaRPr>
          </a:p>
        </p:txBody>
      </p:sp>
      <p:pic>
        <p:nvPicPr>
          <p:cNvPr id="357" name="Google Shape;357;g3b7941afaaa_7_21"/>
          <p:cNvPicPr preferRelativeResize="0"/>
          <p:nvPr/>
        </p:nvPicPr>
        <p:blipFill>
          <a:blip r:embed="rId3">
            <a:alphaModFix/>
          </a:blip>
          <a:stretch>
            <a:fillRect/>
          </a:stretch>
        </p:blipFill>
        <p:spPr>
          <a:xfrm>
            <a:off x="1454800" y="1441628"/>
            <a:ext cx="8687175" cy="2207525"/>
          </a:xfrm>
          <a:prstGeom prst="rect">
            <a:avLst/>
          </a:prstGeom>
          <a:noFill/>
          <a:ln>
            <a:noFill/>
          </a:ln>
        </p:spPr>
      </p:pic>
      <p:pic>
        <p:nvPicPr>
          <p:cNvPr id="358" name="Google Shape;358;g3b7941afaaa_7_21"/>
          <p:cNvPicPr preferRelativeResize="0"/>
          <p:nvPr/>
        </p:nvPicPr>
        <p:blipFill>
          <a:blip r:embed="rId4">
            <a:alphaModFix/>
          </a:blip>
          <a:stretch>
            <a:fillRect/>
          </a:stretch>
        </p:blipFill>
        <p:spPr>
          <a:xfrm>
            <a:off x="1454800" y="3948375"/>
            <a:ext cx="8687174" cy="1018691"/>
          </a:xfrm>
          <a:prstGeom prst="rect">
            <a:avLst/>
          </a:prstGeom>
          <a:noFill/>
          <a:ln>
            <a:noFill/>
          </a:ln>
        </p:spPr>
      </p:pic>
      <p:pic>
        <p:nvPicPr>
          <p:cNvPr id="359" name="Google Shape;359;g3b7941afaaa_7_21"/>
          <p:cNvPicPr preferRelativeResize="0"/>
          <p:nvPr/>
        </p:nvPicPr>
        <p:blipFill>
          <a:blip r:embed="rId5">
            <a:alphaModFix/>
          </a:blip>
          <a:stretch>
            <a:fillRect/>
          </a:stretch>
        </p:blipFill>
        <p:spPr>
          <a:xfrm>
            <a:off x="1454800" y="5168042"/>
            <a:ext cx="8808300" cy="7603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8"/>
          <p:cNvSpPr txBox="1"/>
          <p:nvPr>
            <p:ph type="title"/>
          </p:nvPr>
        </p:nvSpPr>
        <p:spPr>
          <a:xfrm>
            <a:off x="3005771" y="2710857"/>
            <a:ext cx="6180457" cy="1436286"/>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4800"/>
              <a:buFont typeface="Lato"/>
              <a:buNone/>
            </a:pPr>
            <a:r>
              <a:rPr lang="vi-VN">
                <a:latin typeface="Lato"/>
                <a:ea typeface="Lato"/>
                <a:cs typeface="Lato"/>
                <a:sym typeface="Lato"/>
              </a:rPr>
              <a:t>5. Kết luận và hướng phát triển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9"/>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Lato"/>
              <a:buNone/>
            </a:pPr>
            <a:r>
              <a:rPr lang="vi-VN">
                <a:latin typeface="Lato"/>
                <a:ea typeface="Lato"/>
                <a:cs typeface="Lato"/>
                <a:sym typeface="Lato"/>
              </a:rPr>
              <a:t>5. Kết luận và hướng phát triển</a:t>
            </a:r>
            <a:endParaRPr/>
          </a:p>
        </p:txBody>
      </p:sp>
      <p:sp>
        <p:nvSpPr>
          <p:cNvPr id="370" name="Google Shape;370;p1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vi-VN"/>
              <a:t>‹#›</a:t>
            </a:fld>
            <a:endParaRPr/>
          </a:p>
        </p:txBody>
      </p:sp>
      <p:sp>
        <p:nvSpPr>
          <p:cNvPr id="371" name="Google Shape;371;p19"/>
          <p:cNvSpPr txBox="1"/>
          <p:nvPr/>
        </p:nvSpPr>
        <p:spPr>
          <a:xfrm>
            <a:off x="343269" y="1122534"/>
            <a:ext cx="11517300" cy="341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lang="vi-VN" sz="2000">
                <a:solidFill>
                  <a:schemeClr val="dk1"/>
                </a:solidFill>
                <a:latin typeface="Lato"/>
                <a:ea typeface="Lato"/>
                <a:cs typeface="Lato"/>
                <a:sym typeface="Lato"/>
              </a:rPr>
              <a:t>Phương pháp đề xuất cho bài toán gợi ý tin tức trên tập dữ liệu MIND bằng cách kết hợp ba mô hình recommendation gồm NRMS, UniLM–Fastformer và MINER. Mỗi mô hình học biểu diễn nội dung và hành vi người dùng theo hướng khác nhau, tạo ra các dự đoán riêng cho từng impression. Các dự đoán này được kết hợp thông qua mô hình LightGBM cùng Optuna nhằm tối ưu cách phối hợp và siêu tham số, từ đó nâng cao hiệu năng và độ ổn định của hệ thống. Kết quả cho thấy phương pháp ensemble hiệu quả hơn so với việc sử dụng từng mô hình đơn lẻ.</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Lato"/>
              <a:ea typeface="Lato"/>
              <a:cs typeface="Lato"/>
              <a:sym typeface="Lato"/>
            </a:endParaRPr>
          </a:p>
          <a:p>
            <a:pPr indent="0" lvl="0" marL="0" rtl="0" algn="l">
              <a:lnSpc>
                <a:spcPct val="115000"/>
              </a:lnSpc>
              <a:spcBef>
                <a:spcPts val="1200"/>
              </a:spcBef>
              <a:spcAft>
                <a:spcPts val="1200"/>
              </a:spcAft>
              <a:buNone/>
            </a:pPr>
            <a:r>
              <a:rPr lang="vi-VN" sz="2000">
                <a:solidFill>
                  <a:schemeClr val="dk1"/>
                </a:solidFill>
                <a:latin typeface="Lato"/>
                <a:ea typeface="Lato"/>
                <a:cs typeface="Lato"/>
                <a:sym typeface="Lato"/>
              </a:rPr>
              <a:t>Trong tương lai, hệ thống có thể được cải thiện bằng cách mở rộng dữ liệu đầu vào (abstract, metadata), tối ưu sâu hơn siêu tham số và đánh giá trên nhiều tập dữ liệu khác nhau để kiểm chứng khả năng tổng quát hóa.</a:t>
            </a:r>
            <a:endParaRPr sz="2000">
              <a:solidFill>
                <a:schemeClr val="dk1"/>
              </a:solidFill>
              <a:latin typeface="Lato"/>
              <a:ea typeface="Lato"/>
              <a:cs typeface="Lato"/>
              <a:sym typeface="Lato"/>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0"/>
          <p:cNvSpPr txBox="1"/>
          <p:nvPr>
            <p:ph type="title"/>
          </p:nvPr>
        </p:nvSpPr>
        <p:spPr>
          <a:xfrm>
            <a:off x="3956538" y="3006701"/>
            <a:ext cx="4271303" cy="837027"/>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lt1"/>
              </a:buClr>
              <a:buSzPts val="4800"/>
              <a:buFont typeface="Lato"/>
              <a:buNone/>
            </a:pPr>
            <a:r>
              <a:rPr lang="vi-VN">
                <a:latin typeface="Lato"/>
                <a:ea typeface="Lato"/>
                <a:cs typeface="Lato"/>
                <a:sym typeface="Lato"/>
              </a:rPr>
              <a:t>Thank you!</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2024-10-22T16:16:27Z</dcterms:created>
  <dc:creator>Pham Dang Khue 20215406</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0x010100318225D1F1D0724D9E04F5C251CD41A6</vt:lpwstr>
  </property>
</Properties>
</file>